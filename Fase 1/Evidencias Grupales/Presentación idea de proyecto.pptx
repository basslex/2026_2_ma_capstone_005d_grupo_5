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8" r:id="rId4"/>
    <p:sldId id="259" r:id="rId5"/>
    <p:sldId id="261" r:id="rId6"/>
    <p:sldId id="260" r:id="rId7"/>
    <p:sldId id="262" r:id="rId8"/>
    <p:sldId id="265" r:id="rId9"/>
    <p:sldId id="266" r:id="rId10"/>
    <p:sldId id="264" r:id="rId11"/>
    <p:sldId id="263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Light" panose="020B0604020202020204" charset="0"/>
      <p:regular r:id="rId19"/>
      <p:bold r:id="rId20"/>
      <p:italic r:id="rId21"/>
      <p:boldItalic r:id="rId22"/>
    </p:embeddedFont>
    <p:embeddedFont>
      <p:font typeface="Inter Medium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  <p:embeddedFont>
      <p:font typeface="Playfair Display" panose="00000500000000000000" pitchFamily="2" charset="0"/>
      <p:regular r:id="rId31"/>
      <p:bold r:id="rId32"/>
      <p:italic r:id="rId33"/>
      <p:boldItalic r:id="rId34"/>
    </p:embeddedFont>
    <p:embeddedFont>
      <p:font typeface="Playfair Display SemiBold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hl1C4Ko57Tbk6dVqqfdlNexkV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959FFA-D616-4B01-8C70-AE15E195B474}">
  <a:tblStyle styleId="{05959FFA-D616-4B01-8C70-AE15E195B4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5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4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8bb5370c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f8bb5370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8bb5370cf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f8bb5370cf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bb5370cf_0_2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f8bb5370cf_0_2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3f8bb5370cf_0_2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bb5370cf_0_23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f8bb5370cf_0_2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g3f8bb5370cf_0_2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3f8bb5370cf_0_2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f8bb5370cf_0_2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8bb5370cf_0_2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f8bb5370cf_0_2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f8bb5370cf_0_2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3f8bb5370cf_0_2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f8bb5370cf_0_2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bb5370cf_0_24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f8bb5370cf_0_24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g3f8bb5370cf_0_2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3f8bb5370cf_0_2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3f8bb5370cf_0_2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bb5370cf_0_2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f8bb5370cf_0_2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g3f8bb5370cf_0_24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g3f8bb5370cf_0_2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f8bb5370cf_0_2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f8bb5370cf_0_2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bb5370cf_0_2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f8bb5370cf_0_25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g3f8bb5370cf_0_25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g3f8bb5370cf_0_25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g3f8bb5370cf_0_25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g3f8bb5370cf_0_2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f8bb5370cf_0_2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f8bb5370cf_0_2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8bb5370cf_0_2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f8bb5370cf_0_2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f8bb5370cf_0_2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3f8bb5370cf_0_2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bb5370cf_0_26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f8bb5370cf_0_26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g3f8bb5370cf_0_26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g3f8bb5370cf_0_2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3f8bb5370cf_0_2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f8bb5370cf_0_2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bb5370cf_0_27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f8bb5370cf_0_27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39" name="Google Shape;139;g3f8bb5370cf_0_27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g3f8bb5370cf_0_2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f8bb5370cf_0_2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f8bb5370cf_0_2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bb5370cf_0_28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f8bb5370cf_0_283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g3f8bb5370cf_0_28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3f8bb5370cf_0_28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f8bb5370cf_0_28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bb5370cf_0_289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3f8bb5370cf_0_289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3f8bb5370cf_0_28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3f8bb5370cf_0_28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3f8bb5370cf_0_28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bb5370cf_0_2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g3f8bb5370cf_0_2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g3f8bb5370cf_0_2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g3f8bb5370cf_0_2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g3f8bb5370cf_0_2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"/>
          <p:cNvGrpSpPr/>
          <p:nvPr/>
        </p:nvGrpSpPr>
        <p:grpSpPr>
          <a:xfrm>
            <a:off x="1676400" y="1595883"/>
            <a:ext cx="8839200" cy="3666083"/>
            <a:chOff x="1676400" y="1595883"/>
            <a:chExt cx="8839200" cy="3666083"/>
          </a:xfrm>
        </p:grpSpPr>
        <p:pic>
          <p:nvPicPr>
            <p:cNvPr id="160" name="Google Shape;160;p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76400" y="1595883"/>
              <a:ext cx="8839200" cy="366608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23825" dir="14160000" algn="bl" rotWithShape="0">
                <a:srgbClr val="000000">
                  <a:alpha val="63000"/>
                </a:srgbClr>
              </a:outerShdw>
              <a:reflection stA="11000" endPos="24000" dist="381000" dir="5400000" fadeDir="5400012" sy="-100000" algn="bl" rotWithShape="0"/>
            </a:effectLst>
          </p:spPr>
        </p:pic>
        <p:sp>
          <p:nvSpPr>
            <p:cNvPr id="161" name="Google Shape;161;p1"/>
            <p:cNvSpPr txBox="1"/>
            <p:nvPr/>
          </p:nvSpPr>
          <p:spPr>
            <a:xfrm>
              <a:off x="2265521" y="2160936"/>
              <a:ext cx="7661100" cy="86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999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25" b="0" i="0" u="none" strike="noStrike" cap="none" dirty="0">
                  <a:solidFill>
                    <a:srgbClr val="18181B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Proyecto </a:t>
              </a:r>
              <a:r>
                <a:rPr lang="en-US" sz="5625" b="0" i="0" u="none" strike="noStrike" cap="none" dirty="0" err="1">
                  <a:solidFill>
                    <a:srgbClr val="18181B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Essenzia</a:t>
              </a:r>
              <a:endParaRPr dirty="0"/>
            </a:p>
          </p:txBody>
        </p:sp>
        <p:sp>
          <p:nvSpPr>
            <p:cNvPr id="162" name="Google Shape;162;p1"/>
            <p:cNvSpPr txBox="1"/>
            <p:nvPr/>
          </p:nvSpPr>
          <p:spPr>
            <a:xfrm>
              <a:off x="2447925" y="3215905"/>
              <a:ext cx="7296300" cy="8863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 dirty="0">
                  <a:solidFill>
                    <a:srgbClr val="52525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PT4614 Capstone – </a:t>
              </a:r>
              <a:r>
                <a:rPr lang="en-US" sz="1800" b="0" i="1" u="none" strike="noStrike" cap="none" dirty="0" err="1">
                  <a:solidFill>
                    <a:srgbClr val="52525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Sección</a:t>
              </a:r>
              <a:r>
                <a:rPr lang="en-US" sz="1800" b="0" i="1" u="none" strike="noStrike" cap="none" dirty="0">
                  <a:solidFill>
                    <a:srgbClr val="52525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005D</a:t>
              </a:r>
            </a:p>
            <a:p>
              <a:pPr marL="0" marR="0" lvl="0" indent="0" algn="ctr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 dirty="0">
                  <a:solidFill>
                    <a:srgbClr val="52525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Etapa 1: </a:t>
              </a:r>
              <a:r>
                <a:rPr lang="en-US" sz="1800" b="0" i="1" u="none" strike="noStrike" cap="none" dirty="0" err="1">
                  <a:solidFill>
                    <a:srgbClr val="52525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Definición</a:t>
              </a:r>
              <a:r>
                <a:rPr lang="en-US" sz="1800" b="0" i="1" u="none" strike="noStrike" cap="none" dirty="0">
                  <a:solidFill>
                    <a:srgbClr val="52525B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 Proyecto APT</a:t>
              </a:r>
              <a:endParaRPr dirty="0"/>
            </a:p>
          </p:txBody>
        </p:sp>
        <p:sp>
          <p:nvSpPr>
            <p:cNvPr id="163" name="Google Shape;163;p1"/>
            <p:cNvSpPr txBox="1"/>
            <p:nvPr/>
          </p:nvSpPr>
          <p:spPr>
            <a:xfrm>
              <a:off x="2447925" y="4424690"/>
              <a:ext cx="7296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71717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INGENIERÍA EN INFORMÁTICA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350" b="0" i="0" u="none" strike="noStrike" cap="none" dirty="0">
                  <a:solidFill>
                    <a:srgbClr val="71717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MANUEL PINTO • ALEXANDER ANDRADES</a:t>
              </a: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63166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"/>
          <p:cNvSpPr txBox="1"/>
          <p:nvPr/>
        </p:nvSpPr>
        <p:spPr>
          <a:xfrm>
            <a:off x="571500" y="1763166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Plataforma E-commerce Inteligente</a:t>
            </a:r>
            <a:endParaRPr/>
          </a:p>
        </p:txBody>
      </p:sp>
      <p:sp>
        <p:nvSpPr>
          <p:cNvPr id="208" name="Google Shape;208;p3"/>
          <p:cNvSpPr txBox="1"/>
          <p:nvPr/>
        </p:nvSpPr>
        <p:spPr>
          <a:xfrm>
            <a:off x="571497" y="2096541"/>
            <a:ext cx="5426177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Solución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web integral para la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venta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perfumes,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mitigando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la barrera de la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compra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ciegas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mediante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herramientas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interactivas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209" name="Google Shape;209;p3"/>
          <p:cNvSpPr txBox="1"/>
          <p:nvPr/>
        </p:nvSpPr>
        <p:spPr>
          <a:xfrm>
            <a:off x="571500" y="3003369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Essenzia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Match: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Motor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algorítmico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perfilado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del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usuario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recomendación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basado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cuestionarios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interactivos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210" name="Google Shape;210;p3"/>
          <p:cNvSpPr txBox="1"/>
          <p:nvPr/>
        </p:nvSpPr>
        <p:spPr>
          <a:xfrm>
            <a:off x="571499" y="3790075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Visualizador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Interactivo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Desglose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dinámico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la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pirámide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olfativa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(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notas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salida,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corazón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fondo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).</a:t>
            </a:r>
            <a:endParaRPr dirty="0"/>
          </a:p>
        </p:txBody>
      </p:sp>
      <p:sp>
        <p:nvSpPr>
          <p:cNvPr id="211" name="Google Shape;211;p3"/>
          <p:cNvSpPr txBox="1"/>
          <p:nvPr/>
        </p:nvSpPr>
        <p:spPr>
          <a:xfrm>
            <a:off x="571498" y="4576781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Proyección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Temporal: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Control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deslizante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que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simula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el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secado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estela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duración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piel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212" name="Google Shape;212;p3"/>
          <p:cNvSpPr txBox="1"/>
          <p:nvPr/>
        </p:nvSpPr>
        <p:spPr>
          <a:xfrm>
            <a:off x="571497" y="5363487"/>
            <a:ext cx="500062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Arquitectura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Completa: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Gestión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inventario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autenticación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pasarela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pago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pic>
        <p:nvPicPr>
          <p:cNvPr id="213" name="Google Shape;213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3166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Descripción del Proyecto</a:t>
            </a:r>
            <a:endParaRPr/>
          </a:p>
        </p:txBody>
      </p:sp>
      <p:sp>
        <p:nvSpPr>
          <p:cNvPr id="215" name="Google Shape;215;p3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 txBox="1"/>
          <p:nvPr/>
        </p:nvSpPr>
        <p:spPr>
          <a:xfrm>
            <a:off x="545307" y="958645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 err="1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Contexto</a:t>
            </a:r>
            <a:r>
              <a:rPr lang="en-US" sz="3375" b="0" i="0" u="none" strike="noStrike" cap="none" dirty="0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y </a:t>
            </a:r>
            <a:r>
              <a:rPr lang="en-US" sz="3375" b="0" i="0" u="none" strike="noStrike" cap="none" dirty="0" err="1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Relevancia</a:t>
            </a:r>
            <a:endParaRPr dirty="0"/>
          </a:p>
        </p:txBody>
      </p:sp>
      <p:sp>
        <p:nvSpPr>
          <p:cNvPr id="222" name="Google Shape;222;p4"/>
          <p:cNvSpPr txBox="1"/>
          <p:nvPr/>
        </p:nvSpPr>
        <p:spPr>
          <a:xfrm>
            <a:off x="296197" y="1901006"/>
            <a:ext cx="5286375" cy="4696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El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comercio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fragancias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enfrenta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una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barrera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crítica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: no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poder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percibir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el aroma del perfume antes de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comprar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 Esto genera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desconfianza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devoluciones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abandono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carritos</a:t>
            </a:r>
            <a:r>
              <a:rPr lang="en-US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lang="en-US" dirty="0">
              <a:solidFill>
                <a:srgbClr val="3F3F46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b="0" i="0" u="none" strike="noStrike" cap="none" dirty="0">
              <a:solidFill>
                <a:srgbClr val="3F3F46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b="0" i="0" u="none" strike="noStrike" kern="0" cap="none" spc="0" normalizeH="0" baseline="0" noProof="0" dirty="0" err="1">
                <a:ln>
                  <a:noFill/>
                </a:ln>
                <a:solidFill>
                  <a:srgbClr val="3F3F46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Essenzia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3F3F46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impacta al consumidor y al comercio al transformar un catálogo estático en una experiencia consultiva y transparente.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s-MX" b="0" i="0" u="none" strike="noStrike" kern="0" cap="none" spc="0" normalizeH="0" baseline="0" noProof="0" dirty="0">
              <a:ln>
                <a:noFill/>
              </a:ln>
              <a:solidFill>
                <a:srgbClr val="3F3F46"/>
              </a:solidFill>
              <a:effectLst/>
              <a:uLnTx/>
              <a:uFillTx/>
              <a:latin typeface="Inter Light"/>
              <a:ea typeface="Inter Light"/>
              <a:cs typeface="Inter Light"/>
              <a:sym typeface="Inter Ligh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3F3F46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Desde el campo informático, el proyecto requiere soluciones complejas: algoritmos de recomendación, UI/UX avanzado, bases de datos robustas e integración de </a:t>
            </a:r>
            <a:r>
              <a:rPr kumimoji="0" lang="es-MX" b="0" i="0" u="none" strike="noStrike" kern="0" cap="none" spc="0" normalizeH="0" baseline="0" noProof="0" dirty="0" err="1">
                <a:ln>
                  <a:noFill/>
                </a:ln>
                <a:solidFill>
                  <a:srgbClr val="3F3F46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APIs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3F3F46"/>
                </a:solidFill>
                <a:effectLst/>
                <a:uLnTx/>
                <a:uFillTx/>
                <a:latin typeface="Inter Light"/>
                <a:ea typeface="Inter Light"/>
                <a:cs typeface="Inter Light"/>
                <a:sym typeface="Inter Light"/>
              </a:rPr>
              <a:t> financieras.</a:t>
            </a:r>
            <a:endParaRPr kumimoji="0" lang="es-MX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MX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25" name="Google Shape;22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0275" y="0"/>
            <a:ext cx="6181727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g3f8bb5370cf_0_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240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f8bb5370cf_0_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240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f8bb5370cf_0_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8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8bb5370cf_0_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048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f8bb5370cf_0_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719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f8bb5370cf_0_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4171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f8bb5370cf_0_1"/>
          <p:cNvSpPr txBox="1"/>
          <p:nvPr/>
        </p:nvSpPr>
        <p:spPr>
          <a:xfrm>
            <a:off x="1143000" y="1924050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 de Software</a:t>
            </a:r>
            <a:endParaRPr/>
          </a:p>
        </p:txBody>
      </p:sp>
      <p:sp>
        <p:nvSpPr>
          <p:cNvPr id="256" name="Google Shape;256;g3f8bb5370cf_0_1"/>
          <p:cNvSpPr txBox="1"/>
          <p:nvPr/>
        </p:nvSpPr>
        <p:spPr>
          <a:xfrm>
            <a:off x="1143000" y="2209800"/>
            <a:ext cx="47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Construcción de la aplicación web interactiva (Frontend y Backend) y el algoritmo Essenzia Match.</a:t>
            </a:r>
            <a:endParaRPr/>
          </a:p>
        </p:txBody>
      </p:sp>
      <p:sp>
        <p:nvSpPr>
          <p:cNvPr id="257" name="Google Shape;257;g3f8bb5370cf_0_1"/>
          <p:cNvSpPr txBox="1"/>
          <p:nvPr/>
        </p:nvSpPr>
        <p:spPr>
          <a:xfrm>
            <a:off x="6858000" y="1924050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Bases de Datos</a:t>
            </a:r>
            <a:endParaRPr/>
          </a:p>
        </p:txBody>
      </p:sp>
      <p:sp>
        <p:nvSpPr>
          <p:cNvPr id="258" name="Google Shape;258;g3f8bb5370cf_0_1"/>
          <p:cNvSpPr txBox="1"/>
          <p:nvPr/>
        </p:nvSpPr>
        <p:spPr>
          <a:xfrm>
            <a:off x="6858000" y="2209800"/>
            <a:ext cx="47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Diseñar, modelar relacionalmente y administrar el catálogo de notas y perfiles de usuarios.</a:t>
            </a:r>
            <a:endParaRPr/>
          </a:p>
        </p:txBody>
      </p:sp>
      <p:sp>
        <p:nvSpPr>
          <p:cNvPr id="259" name="Google Shape;259;g3f8bb5370cf_0_1"/>
          <p:cNvSpPr txBox="1"/>
          <p:nvPr/>
        </p:nvSpPr>
        <p:spPr>
          <a:xfrm>
            <a:off x="1143000" y="3048000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de Prototipos</a:t>
            </a:r>
            <a:endParaRPr/>
          </a:p>
        </p:txBody>
      </p:sp>
      <p:sp>
        <p:nvSpPr>
          <p:cNvPr id="260" name="Google Shape;260;g3f8bb5370cf_0_1"/>
          <p:cNvSpPr txBox="1"/>
          <p:nvPr/>
        </p:nvSpPr>
        <p:spPr>
          <a:xfrm>
            <a:off x="1143000" y="3333750"/>
            <a:ext cx="47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Creación de interfaces UI/UX utilizando enfoques de Visual Thinking y Wireframes.</a:t>
            </a:r>
            <a:endParaRPr/>
          </a:p>
        </p:txBody>
      </p:sp>
      <p:sp>
        <p:nvSpPr>
          <p:cNvPr id="261" name="Google Shape;261;g3f8bb5370cf_0_1"/>
          <p:cNvSpPr txBox="1"/>
          <p:nvPr/>
        </p:nvSpPr>
        <p:spPr>
          <a:xfrm>
            <a:off x="6858000" y="3048000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Proyectos</a:t>
            </a:r>
            <a:endParaRPr/>
          </a:p>
        </p:txBody>
      </p:sp>
      <p:sp>
        <p:nvSpPr>
          <p:cNvPr id="262" name="Google Shape;262;g3f8bb5370cf_0_1"/>
          <p:cNvSpPr txBox="1"/>
          <p:nvPr/>
        </p:nvSpPr>
        <p:spPr>
          <a:xfrm>
            <a:off x="6858000" y="3333750"/>
            <a:ext cx="47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Aplicación del Modelo en Cascada, estimación de viabilidad y control mediante diagramas de Gantt.</a:t>
            </a:r>
            <a:endParaRPr/>
          </a:p>
        </p:txBody>
      </p:sp>
      <p:sp>
        <p:nvSpPr>
          <p:cNvPr id="263" name="Google Shape;263;g3f8bb5370cf_0_1"/>
          <p:cNvSpPr txBox="1"/>
          <p:nvPr/>
        </p:nvSpPr>
        <p:spPr>
          <a:xfrm>
            <a:off x="1143000" y="4171950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 Software</a:t>
            </a:r>
            <a:endParaRPr/>
          </a:p>
        </p:txBody>
      </p:sp>
      <p:sp>
        <p:nvSpPr>
          <p:cNvPr id="264" name="Google Shape;264;g3f8bb5370cf_0_1"/>
          <p:cNvSpPr txBox="1"/>
          <p:nvPr/>
        </p:nvSpPr>
        <p:spPr>
          <a:xfrm>
            <a:off x="1143000" y="4457700"/>
            <a:ext cx="47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Ejecución integral de matrices QA, pruebas unitarias, de integración y validación de seguridad.</a:t>
            </a:r>
            <a:endParaRPr/>
          </a:p>
        </p:txBody>
      </p:sp>
      <p:sp>
        <p:nvSpPr>
          <p:cNvPr id="265" name="Google Shape;265;g3f8bb5370cf_0_1"/>
          <p:cNvSpPr txBox="1"/>
          <p:nvPr/>
        </p:nvSpPr>
        <p:spPr>
          <a:xfrm>
            <a:off x="6858000" y="4171950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Inteligencia de Negocios</a:t>
            </a:r>
            <a:endParaRPr/>
          </a:p>
        </p:txBody>
      </p:sp>
      <p:sp>
        <p:nvSpPr>
          <p:cNvPr id="266" name="Google Shape;266;g3f8bb5370cf_0_1"/>
          <p:cNvSpPr txBox="1"/>
          <p:nvPr/>
        </p:nvSpPr>
        <p:spPr>
          <a:xfrm>
            <a:off x="6858000" y="4457700"/>
            <a:ext cx="476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Diseño</a:t>
            </a:r>
            <a:r>
              <a:rPr lang="en-US" sz="1200" b="0" i="0" u="none" strike="noStrike" cap="none" dirty="0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200" b="0" i="0" u="none" strike="noStrike" cap="none" dirty="0" err="1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métricas</a:t>
            </a:r>
            <a:r>
              <a:rPr lang="en-US" sz="1200" b="0" i="0" u="none" strike="noStrike" cap="none" dirty="0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200" b="0" i="0" u="none" strike="noStrike" cap="none" dirty="0" err="1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análisis</a:t>
            </a:r>
            <a:r>
              <a:rPr lang="en-US" sz="1200" b="0" i="0" u="none" strike="noStrike" cap="none" dirty="0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200" b="0" i="0" u="none" strike="noStrike" cap="none" dirty="0" err="1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conversión</a:t>
            </a:r>
            <a:r>
              <a:rPr lang="en-US" sz="1200" b="0" i="0" u="none" strike="noStrike" cap="none" dirty="0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 del </a:t>
            </a:r>
            <a:r>
              <a:rPr lang="en-US" sz="1200" b="0" i="0" u="none" strike="noStrike" cap="none" dirty="0" err="1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recomendador</a:t>
            </a:r>
            <a:r>
              <a:rPr lang="en-US" sz="1200" b="0" i="0" u="none" strike="noStrike" cap="none" dirty="0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200" b="0" i="0" u="none" strike="noStrike" cap="none" dirty="0" err="1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viabilidad</a:t>
            </a:r>
            <a:r>
              <a:rPr lang="en-US" sz="1200" b="0" i="0" u="none" strike="noStrike" cap="none" dirty="0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 i="0" u="none" strike="noStrike" cap="none" dirty="0" err="1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económica</a:t>
            </a:r>
            <a:r>
              <a:rPr lang="en-US" sz="1200" b="0" i="0" u="none" strike="noStrike" cap="none" dirty="0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 del </a:t>
            </a:r>
            <a:r>
              <a:rPr lang="en-US" sz="1200" b="0" i="0" u="none" strike="noStrike" cap="none" dirty="0" err="1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sistema</a:t>
            </a:r>
            <a:r>
              <a:rPr lang="en-US" sz="1200" b="0" i="0" u="none" strike="noStrike" cap="none" dirty="0">
                <a:solidFill>
                  <a:srgbClr val="52525B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267" name="Google Shape;267;g3f8bb5370cf_0_1"/>
          <p:cNvSpPr txBox="1"/>
          <p:nvPr/>
        </p:nvSpPr>
        <p:spPr>
          <a:xfrm>
            <a:off x="571500" y="571500"/>
            <a:ext cx="116016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Competencias Clave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04182"/>
            <a:ext cx="3492549" cy="291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504182"/>
            <a:ext cx="3492549" cy="291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504182"/>
            <a:ext cx="3492549" cy="291643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5"/>
          <p:cNvSpPr txBox="1"/>
          <p:nvPr/>
        </p:nvSpPr>
        <p:spPr>
          <a:xfrm>
            <a:off x="866775" y="3409057"/>
            <a:ext cx="269033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Análisis y Arquitectura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866775" y="3885307"/>
            <a:ext cx="290199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Levantar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requerimientos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diseñar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el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modelo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base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datos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relacional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definir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la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arquitectura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web (Frontend/Backend/API).</a:t>
            </a:r>
            <a:endParaRPr dirty="0"/>
          </a:p>
        </p:txBody>
      </p:sp>
      <p:sp>
        <p:nvSpPr>
          <p:cNvPr id="235" name="Google Shape;235;p5"/>
          <p:cNvSpPr txBox="1"/>
          <p:nvPr/>
        </p:nvSpPr>
        <p:spPr>
          <a:xfrm>
            <a:off x="4645074" y="3409057"/>
            <a:ext cx="192024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Desarrollo Core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4645074" y="3885307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Construir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el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catálogo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productos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pasarela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pagos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Essenzia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Match y el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visualizador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interactivo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notas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olfativas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237" name="Google Shape;237;p5"/>
          <p:cNvSpPr txBox="1"/>
          <p:nvPr/>
        </p:nvSpPr>
        <p:spPr>
          <a:xfrm>
            <a:off x="8423374" y="3409057"/>
            <a:ext cx="24503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Calidad y Despliegue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8423374" y="3885307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Ejecutar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pruebas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unitarias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integración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seguridad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desplegando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la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plataforma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un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entorno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productivo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la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nube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pic>
        <p:nvPicPr>
          <p:cNvPr id="239" name="Google Shape;239;p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83755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5074" y="283755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374" y="283755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Objetivos del Proyecto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812" y="22955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6"/>
          <p:cNvSpPr txBox="1"/>
          <p:nvPr/>
        </p:nvSpPr>
        <p:spPr>
          <a:xfrm>
            <a:off x="6334125" y="2365176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Enfoque Híbrido</a:t>
            </a:r>
            <a:endParaRPr/>
          </a:p>
        </p:txBody>
      </p:sp>
      <p:sp>
        <p:nvSpPr>
          <p:cNvPr id="274" name="Google Shape;274;p6"/>
          <p:cNvSpPr txBox="1"/>
          <p:nvPr/>
        </p:nvSpPr>
        <p:spPr>
          <a:xfrm>
            <a:off x="6334125" y="2841426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Para Essenzia adoptamos una estrategia que garantiza estructura y comprensión visual:</a:t>
            </a:r>
            <a:endParaRPr/>
          </a:p>
        </p:txBody>
      </p:sp>
      <p:pic>
        <p:nvPicPr>
          <p:cNvPr id="275" name="Google Shape;275;p6" title="xddddd.jpg"/>
          <p:cNvPicPr preferRelativeResize="0"/>
          <p:nvPr/>
        </p:nvPicPr>
        <p:blipFill rotWithShape="1">
          <a:blip r:embed="rId4">
            <a:alphaModFix/>
          </a:blip>
          <a:srcRect l="22067" r="22067"/>
          <a:stretch/>
        </p:blipFill>
        <p:spPr>
          <a:xfrm>
            <a:off x="839537" y="1728838"/>
            <a:ext cx="4624426" cy="44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"/>
          <p:cNvSpPr txBox="1"/>
          <p:nvPr/>
        </p:nvSpPr>
        <p:spPr>
          <a:xfrm>
            <a:off x="6619875" y="3631202"/>
            <a:ext cx="50006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Modelo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Cascada (Waterfall):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Fases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definidas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secuenciales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(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Requerimientos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Diseño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Implementación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Pruebas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Despliegue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) para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asegurar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entregables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formales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277" name="Google Shape;277;p6"/>
          <p:cNvSpPr txBox="1"/>
          <p:nvPr/>
        </p:nvSpPr>
        <p:spPr>
          <a:xfrm>
            <a:off x="6619875" y="4792059"/>
            <a:ext cx="50006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Visual Thinking: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Traducción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conceptos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abstractos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flujos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negocio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mapas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mentales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diagramas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wireframes UI/UX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alta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fidelidad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278" name="Google Shape;278;p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Metodología de Trabajo</a:t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25203"/>
            <a:ext cx="11049000" cy="401925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1776412" y="5882580"/>
            <a:ext cx="86391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* Extracto de Carta_Gantt_Essenzia.csv</a:t>
            </a:r>
            <a:endParaRPr dirty="0"/>
          </a:p>
        </p:txBody>
      </p:sp>
      <p:graphicFrame>
        <p:nvGraphicFramePr>
          <p:cNvPr id="326" name="Google Shape;326;p9"/>
          <p:cNvGraphicFramePr/>
          <p:nvPr>
            <p:extLst>
              <p:ext uri="{D42A27DB-BD31-4B8C-83A1-F6EECF244321}">
                <p14:modId xmlns:p14="http://schemas.microsoft.com/office/powerpoint/2010/main" val="451291714"/>
              </p:ext>
            </p:extLst>
          </p:nvPr>
        </p:nvGraphicFramePr>
        <p:xfrm>
          <a:off x="581025" y="1634728"/>
          <a:ext cx="11029950" cy="4000250"/>
        </p:xfrm>
        <a:graphic>
          <a:graphicData uri="http://schemas.openxmlformats.org/drawingml/2006/table">
            <a:tbl>
              <a:tblPr firstRow="1" bandRow="1">
                <a:noFill/>
                <a:tableStyleId>{05959FFA-D616-4B01-8C70-AE15E195B474}</a:tableStyleId>
              </a:tblPr>
              <a:tblGrid>
                <a:gridCol w="278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8181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Fase / Actividad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8181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Descripción Resumida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8181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Duración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8181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Responsable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Planificación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Definición de alcance, riesgos y procesos de negocio.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1 - 2 semanas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Manuel / Alexander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Diseño UI/UX y Arquitectura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Wireframes, prototipos, arquitectura web y modelo BD.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2 semanas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Alexander / Manuel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Desarrollo Backend / Frontend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Essenzia Match, APIs, catálogos e integración de pagos.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3 semanas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Manuel / Alexander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Calidad (QA) y Despliegue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Plan de pruebas, métricas (BI) y ambiente productivo.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2 semanas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F3F46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Alexander / Manuel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7" name="Google Shape;327;p9"/>
          <p:cNvSpPr/>
          <p:nvPr/>
        </p:nvSpPr>
        <p:spPr>
          <a:xfrm>
            <a:off x="581025" y="2178546"/>
            <a:ext cx="2787699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3368724" y="2178546"/>
            <a:ext cx="4720232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8088957" y="2178546"/>
            <a:ext cx="1545877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9634835" y="2178546"/>
            <a:ext cx="1976139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81025" y="3041451"/>
            <a:ext cx="2787699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3368724" y="3041451"/>
            <a:ext cx="4720232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8088957" y="3041451"/>
            <a:ext cx="1545877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9634835" y="3041451"/>
            <a:ext cx="1976139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581025" y="3904357"/>
            <a:ext cx="2787699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3368724" y="3904357"/>
            <a:ext cx="4720232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088957" y="3904357"/>
            <a:ext cx="1545877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9634835" y="3904357"/>
            <a:ext cx="1976139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81025" y="4767262"/>
            <a:ext cx="2787699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3368724" y="4767262"/>
            <a:ext cx="4720232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8088957" y="4767262"/>
            <a:ext cx="1545877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9634835" y="4767262"/>
            <a:ext cx="1976139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571500" y="558403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Plan de Trabajo</a:t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571500" y="1225153"/>
            <a:ext cx="11049000" cy="1905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8bb5370cf_0_197"/>
          <p:cNvSpPr txBox="1"/>
          <p:nvPr/>
        </p:nvSpPr>
        <p:spPr>
          <a:xfrm>
            <a:off x="571500" y="1238250"/>
            <a:ext cx="8877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El </a:t>
            </a:r>
            <a:r>
              <a:rPr lang="en-US" sz="15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proyecto</a:t>
            </a: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es </a:t>
            </a:r>
            <a:r>
              <a:rPr lang="en-US" sz="15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factible</a:t>
            </a: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técnica</a:t>
            </a: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5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organizacionalmente</a:t>
            </a: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dentro</a:t>
            </a: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5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los</a:t>
            </a: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plazos</a:t>
            </a: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del </a:t>
            </a:r>
            <a:r>
              <a:rPr lang="en-US" sz="15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semestre</a:t>
            </a:r>
            <a:r>
              <a:rPr lang="en-US" sz="15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(4 meses).</a:t>
            </a:r>
            <a:endParaRPr dirty="0"/>
          </a:p>
        </p:txBody>
      </p:sp>
      <p:sp>
        <p:nvSpPr>
          <p:cNvPr id="350" name="Google Shape;350;g3f8bb5370cf_0_197"/>
          <p:cNvSpPr txBox="1"/>
          <p:nvPr/>
        </p:nvSpPr>
        <p:spPr>
          <a:xfrm>
            <a:off x="571500" y="1924050"/>
            <a:ext cx="540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Actividades Clave</a:t>
            </a:r>
            <a:endParaRPr/>
          </a:p>
        </p:txBody>
      </p:sp>
      <p:sp>
        <p:nvSpPr>
          <p:cNvPr id="351" name="Google Shape;351;g3f8bb5370cf_0_197"/>
          <p:cNvSpPr txBox="1"/>
          <p:nvPr/>
        </p:nvSpPr>
        <p:spPr>
          <a:xfrm>
            <a:off x="6477000" y="1924050"/>
            <a:ext cx="540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Factibilidad</a:t>
            </a:r>
            <a:endParaRPr/>
          </a:p>
        </p:txBody>
      </p:sp>
      <p:sp>
        <p:nvSpPr>
          <p:cNvPr id="352" name="Google Shape;352;g3f8bb5370cf_0_197"/>
          <p:cNvSpPr txBox="1"/>
          <p:nvPr/>
        </p:nvSpPr>
        <p:spPr>
          <a:xfrm>
            <a:off x="762000" y="2400300"/>
            <a:ext cx="49530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Análisis</a:t>
            </a:r>
            <a:r>
              <a:rPr lang="en-US" sz="1350" b="0" i="0" u="none" strike="noStrike" cap="none" dirty="0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y </a:t>
            </a:r>
            <a:r>
              <a:rPr lang="en-US" sz="1350" b="0" i="0" u="none" strike="noStrike" cap="none" dirty="0" err="1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Definición</a:t>
            </a:r>
            <a:r>
              <a:rPr lang="en-US" sz="1350" b="0" i="0" u="none" strike="noStrike" cap="none" dirty="0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(Mes 1):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Levantamiento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especificación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requerimientos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353" name="Google Shape;353;g3f8bb5370cf_0_197"/>
          <p:cNvSpPr txBox="1"/>
          <p:nvPr/>
        </p:nvSpPr>
        <p:spPr>
          <a:xfrm>
            <a:off x="762000" y="313938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y Arquitectura (Mes 1 - 2):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Wireframes, modelo de BD relacional y diseño de API.</a:t>
            </a:r>
            <a:endParaRPr/>
          </a:p>
        </p:txBody>
      </p:sp>
      <p:sp>
        <p:nvSpPr>
          <p:cNvPr id="354" name="Google Shape;354;g3f8bb5370cf_0_197"/>
          <p:cNvSpPr txBox="1"/>
          <p:nvPr/>
        </p:nvSpPr>
        <p:spPr>
          <a:xfrm>
            <a:off x="762000" y="387846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 Core (Mes 2 - 3):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Catálogo, motor Essenzia Match y pasarela de pago.</a:t>
            </a:r>
            <a:endParaRPr/>
          </a:p>
        </p:txBody>
      </p:sp>
      <p:sp>
        <p:nvSpPr>
          <p:cNvPr id="355" name="Google Shape;355;g3f8bb5370cf_0_197"/>
          <p:cNvSpPr txBox="1"/>
          <p:nvPr/>
        </p:nvSpPr>
        <p:spPr>
          <a:xfrm>
            <a:off x="762000" y="4617541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y Despliegue (Mes 4):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Pruebas QA (unitarias, integración) y pase a nube productiva.</a:t>
            </a:r>
            <a:endParaRPr/>
          </a:p>
        </p:txBody>
      </p:sp>
      <p:sp>
        <p:nvSpPr>
          <p:cNvPr id="356" name="Google Shape;356;g3f8bb5370cf_0_197"/>
          <p:cNvSpPr txBox="1"/>
          <p:nvPr/>
        </p:nvSpPr>
        <p:spPr>
          <a:xfrm>
            <a:off x="6667500" y="2400300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Tiempo:</a:t>
            </a: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Duración del semestre (90 horas académicas) suficientes para ejecutar el ciclo completo.</a:t>
            </a:r>
            <a:endParaRPr/>
          </a:p>
        </p:txBody>
      </p:sp>
      <p:sp>
        <p:nvSpPr>
          <p:cNvPr id="357" name="Google Shape;357;g3f8bb5370cf_0_197"/>
          <p:cNvSpPr txBox="1"/>
          <p:nvPr/>
        </p:nvSpPr>
        <p:spPr>
          <a:xfrm>
            <a:off x="6667500" y="3139380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Materiales:</a:t>
            </a: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Uso eficiente de entornos gratuitos (VS Code, Git, BD locales, Vercel).</a:t>
            </a:r>
            <a:endParaRPr/>
          </a:p>
        </p:txBody>
      </p:sp>
      <p:sp>
        <p:nvSpPr>
          <p:cNvPr id="358" name="Google Shape;358;g3f8bb5370cf_0_197"/>
          <p:cNvSpPr txBox="1"/>
          <p:nvPr/>
        </p:nvSpPr>
        <p:spPr>
          <a:xfrm>
            <a:off x="6667500" y="3878460"/>
            <a:ext cx="4953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Facilitadores:</a:t>
            </a: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APIs abiertas y acceso continuo a la retroalimentación docente.</a:t>
            </a:r>
            <a:endParaRPr/>
          </a:p>
        </p:txBody>
      </p:sp>
      <p:sp>
        <p:nvSpPr>
          <p:cNvPr id="359" name="Google Shape;359;g3f8bb5370cf_0_197"/>
          <p:cNvSpPr txBox="1"/>
          <p:nvPr/>
        </p:nvSpPr>
        <p:spPr>
          <a:xfrm>
            <a:off x="6667500" y="4617541"/>
            <a:ext cx="4953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r>
              <a:rPr lang="en-US" sz="1350" b="0" i="0" u="none" strike="noStrike" cap="none" dirty="0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Desarrollo bajo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enfoque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PMV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para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asegurar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las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funcionalidades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críticas</a:t>
            </a:r>
            <a:r>
              <a:rPr lang="en-US" sz="135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primero.</a:t>
            </a:r>
            <a:endParaRPr dirty="0"/>
          </a:p>
        </p:txBody>
      </p:sp>
      <p:sp>
        <p:nvSpPr>
          <p:cNvPr id="360" name="Google Shape;360;g3f8bb5370cf_0_197"/>
          <p:cNvSpPr txBox="1"/>
          <p:nvPr/>
        </p:nvSpPr>
        <p:spPr>
          <a:xfrm>
            <a:off x="571500" y="238125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8181B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/>
          </a:p>
        </p:txBody>
      </p:sp>
      <p:sp>
        <p:nvSpPr>
          <p:cNvPr id="361" name="Google Shape;361;g3f8bb5370cf_0_197"/>
          <p:cNvSpPr txBox="1"/>
          <p:nvPr/>
        </p:nvSpPr>
        <p:spPr>
          <a:xfrm>
            <a:off x="571500" y="312033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8181B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/>
          </a:p>
        </p:txBody>
      </p:sp>
      <p:sp>
        <p:nvSpPr>
          <p:cNvPr id="362" name="Google Shape;362;g3f8bb5370cf_0_197"/>
          <p:cNvSpPr txBox="1"/>
          <p:nvPr/>
        </p:nvSpPr>
        <p:spPr>
          <a:xfrm>
            <a:off x="571500" y="385941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8181B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/>
          </a:p>
        </p:txBody>
      </p:sp>
      <p:sp>
        <p:nvSpPr>
          <p:cNvPr id="363" name="Google Shape;363;g3f8bb5370cf_0_197"/>
          <p:cNvSpPr txBox="1"/>
          <p:nvPr/>
        </p:nvSpPr>
        <p:spPr>
          <a:xfrm>
            <a:off x="571500" y="4598491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8181B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/>
          </a:p>
        </p:txBody>
      </p:sp>
      <p:sp>
        <p:nvSpPr>
          <p:cNvPr id="364" name="Google Shape;364;g3f8bb5370cf_0_197"/>
          <p:cNvSpPr txBox="1"/>
          <p:nvPr/>
        </p:nvSpPr>
        <p:spPr>
          <a:xfrm>
            <a:off x="6477000" y="238125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8181B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/>
          </a:p>
        </p:txBody>
      </p:sp>
      <p:sp>
        <p:nvSpPr>
          <p:cNvPr id="365" name="Google Shape;365;g3f8bb5370cf_0_197"/>
          <p:cNvSpPr txBox="1"/>
          <p:nvPr/>
        </p:nvSpPr>
        <p:spPr>
          <a:xfrm>
            <a:off x="6477000" y="312033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8181B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/>
          </a:p>
        </p:txBody>
      </p:sp>
      <p:sp>
        <p:nvSpPr>
          <p:cNvPr id="366" name="Google Shape;366;g3f8bb5370cf_0_197"/>
          <p:cNvSpPr txBox="1"/>
          <p:nvPr/>
        </p:nvSpPr>
        <p:spPr>
          <a:xfrm>
            <a:off x="6477000" y="3859410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8181B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/>
          </a:p>
        </p:txBody>
      </p:sp>
      <p:sp>
        <p:nvSpPr>
          <p:cNvPr id="367" name="Google Shape;367;g3f8bb5370cf_0_197"/>
          <p:cNvSpPr txBox="1"/>
          <p:nvPr/>
        </p:nvSpPr>
        <p:spPr>
          <a:xfrm>
            <a:off x="6477000" y="4598491"/>
            <a:ext cx="13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8181B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/>
          </a:p>
        </p:txBody>
      </p:sp>
      <p:sp>
        <p:nvSpPr>
          <p:cNvPr id="368" name="Google Shape;368;g3f8bb5370cf_0_197"/>
          <p:cNvSpPr txBox="1"/>
          <p:nvPr/>
        </p:nvSpPr>
        <p:spPr>
          <a:xfrm>
            <a:off x="571500" y="571500"/>
            <a:ext cx="116016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Fases de Trabajo y Factibilidad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/>
          <p:nvPr/>
        </p:nvSpPr>
        <p:spPr>
          <a:xfrm>
            <a:off x="1333500" y="1465212"/>
            <a:ext cx="9525000" cy="1426666"/>
          </a:xfrm>
          <a:prstGeom prst="roundRect">
            <a:avLst>
              <a:gd name="adj" fmla="val 5341"/>
            </a:avLst>
          </a:prstGeom>
          <a:solidFill>
            <a:srgbClr val="FFFFFF"/>
          </a:solidFill>
          <a:ln w="9525" cap="flat" cmpd="sng">
            <a:solidFill>
              <a:srgbClr val="E4E4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2000250" y="1703337"/>
            <a:ext cx="8620125" cy="95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Planificación y Diseño (Avances)</a:t>
            </a: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Acta de constitución, Carta Gantt, Matriz RACI y Riesgos para control. ERS, modelos de datos, arquitectura y Mockups de UI para sentar las bases del desarrollo.</a:t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1333500" y="3130004"/>
            <a:ext cx="9525000" cy="1426666"/>
          </a:xfrm>
          <a:prstGeom prst="roundRect">
            <a:avLst>
              <a:gd name="adj" fmla="val 5341"/>
            </a:avLst>
          </a:prstGeom>
          <a:solidFill>
            <a:srgbClr val="FFFFFF"/>
          </a:solidFill>
          <a:ln w="9525" cap="flat" cmpd="sng">
            <a:solidFill>
              <a:srgbClr val="E4E4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2000250" y="3368129"/>
            <a:ext cx="8620125" cy="95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(Avance Técnico)</a:t>
            </a: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Código fuente versionado, Base de Datos con Scripts operativos y Producto Mínimo Viable (PMV) funcional demostrando el alcance crítico del sistema.</a:t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1333500" y="4794795"/>
            <a:ext cx="9525000" cy="1426666"/>
          </a:xfrm>
          <a:prstGeom prst="roundRect">
            <a:avLst>
              <a:gd name="adj" fmla="val 5341"/>
            </a:avLst>
          </a:prstGeom>
          <a:solidFill>
            <a:srgbClr val="FFFFFF"/>
          </a:solidFill>
          <a:ln w="9525" cap="flat" cmpd="sng">
            <a:solidFill>
              <a:srgbClr val="E4E4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2000250" y="5032920"/>
            <a:ext cx="8620125" cy="95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818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Implementación y Cierre (Final)</a:t>
            </a:r>
            <a:r>
              <a:rPr lang="en-US" sz="135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Plan de pruebas finalizado, plan de soporte/mantenimiento, manuales técnicos/usuario y la entrega del Sistema Final validado por el cliente.</a:t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1333500" y="2882354"/>
            <a:ext cx="9525000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1333500" y="4547145"/>
            <a:ext cx="9525000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1333500" y="6211937"/>
            <a:ext cx="9525000" cy="9525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1150" y="17319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150" y="339670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506149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8"/>
          <p:cNvSpPr txBox="1"/>
          <p:nvPr/>
        </p:nvSpPr>
        <p:spPr>
          <a:xfrm>
            <a:off x="571500" y="398412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Evidencias y Documentación</a:t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571500" y="1065162"/>
            <a:ext cx="11049000" cy="19050"/>
          </a:xfrm>
          <a:prstGeom prst="rect">
            <a:avLst/>
          </a:prstGeom>
          <a:solidFill>
            <a:srgbClr val="E4E4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373;p10" descr="image.png">
            <a:extLst>
              <a:ext uri="{FF2B5EF4-FFF2-40B4-BE49-F238E27FC236}">
                <a16:creationId xmlns:a16="http://schemas.microsoft.com/office/drawing/2014/main" id="{CB28654A-073F-1D8F-3900-ACDA972ECC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8780" y="2437645"/>
            <a:ext cx="5894439" cy="198270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7"/>
          <p:cNvSpPr txBox="1"/>
          <p:nvPr/>
        </p:nvSpPr>
        <p:spPr>
          <a:xfrm>
            <a:off x="2586191" y="2751891"/>
            <a:ext cx="7019618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Conclusiones</a:t>
            </a:r>
            <a:r>
              <a:rPr lang="en-US" sz="4400" b="0" i="0" u="none" strike="noStrike" cap="none" dirty="0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 </a:t>
            </a:r>
            <a:r>
              <a:rPr lang="en-US" sz="4400" b="0" i="0" u="none" strike="noStrike" cap="none" dirty="0" err="1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Reflexiones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694557"/>
            <a:ext cx="8839200" cy="346888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0"/>
          <p:cNvSpPr txBox="1"/>
          <p:nvPr/>
        </p:nvSpPr>
        <p:spPr>
          <a:xfrm>
            <a:off x="2265521" y="2879316"/>
            <a:ext cx="76609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 dirty="0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Gracias </a:t>
            </a:r>
            <a:r>
              <a:rPr lang="en-US" sz="4500" b="0" i="0" u="none" strike="noStrike" cap="none" dirty="0" err="1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por</a:t>
            </a:r>
            <a:r>
              <a:rPr lang="en-US" sz="4500" b="0" i="0" u="none" strike="noStrike" cap="none" dirty="0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  <a:r>
              <a:rPr lang="en-US" sz="4500" b="0" i="0" u="none" strike="noStrike" cap="none" dirty="0" err="1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su</a:t>
            </a:r>
            <a:r>
              <a:rPr lang="en-US" sz="4500" b="0" i="0" u="none" strike="noStrike" cap="none" dirty="0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 </a:t>
            </a:r>
            <a:r>
              <a:rPr lang="en-US" sz="4500" b="0" i="0" u="none" strike="noStrike" cap="none" dirty="0" err="1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atención</a:t>
            </a:r>
            <a:endParaRPr dirty="0"/>
          </a:p>
        </p:txBody>
      </p:sp>
      <p:sp>
        <p:nvSpPr>
          <p:cNvPr id="376" name="Google Shape;376;p10"/>
          <p:cNvSpPr txBox="1"/>
          <p:nvPr/>
        </p:nvSpPr>
        <p:spPr>
          <a:xfrm>
            <a:off x="2447925" y="4134742"/>
            <a:ext cx="7296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5252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Proyecto Capstone - Essenzia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840</Words>
  <Application>Microsoft Office PowerPoint</Application>
  <PresentationFormat>Panorámica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Playfair Display SemiBold</vt:lpstr>
      <vt:lpstr>Calibri</vt:lpstr>
      <vt:lpstr>Inter</vt:lpstr>
      <vt:lpstr>Playfair Display</vt:lpstr>
      <vt:lpstr>Inter Light</vt:lpstr>
      <vt:lpstr>Inter Medium</vt:lpstr>
      <vt:lpstr>Inter SemiBold</vt:lpstr>
      <vt:lpstr>Arial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DAVID ANDRADES GARCIA</cp:lastModifiedBy>
  <cp:revision>5</cp:revision>
  <dcterms:created xsi:type="dcterms:W3CDTF">2013-01-27T09:14:16Z</dcterms:created>
  <dcterms:modified xsi:type="dcterms:W3CDTF">2026-09-03T03:57:17Z</dcterms:modified>
</cp:coreProperties>
</file>
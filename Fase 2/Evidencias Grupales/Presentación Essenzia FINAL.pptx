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5" r:id="rId4"/>
    <p:sldId id="283" r:id="rId5"/>
    <p:sldId id="259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67" r:id="rId14"/>
    <p:sldId id="268" r:id="rId15"/>
    <p:sldId id="269" r:id="rId16"/>
    <p:sldId id="270" r:id="rId17"/>
    <p:sldId id="271" r:id="rId18"/>
    <p:sldId id="286" r:id="rId19"/>
    <p:sldId id="272" r:id="rId20"/>
    <p:sldId id="273" r:id="rId21"/>
    <p:sldId id="285" r:id="rId22"/>
    <p:sldId id="261" r:id="rId23"/>
  </p:sldIdLst>
  <p:sldSz cx="12192000" cy="6858000"/>
  <p:notesSz cx="6858000" cy="9144000"/>
  <p:embeddedFontLst>
    <p:embeddedFont>
      <p:font typeface="Inter" panose="020B0604020202020204" charset="0"/>
      <p:regular r:id="rId25"/>
      <p:bold r:id="rId26"/>
      <p:italic r:id="rId27"/>
      <p:boldItalic r:id="rId28"/>
    </p:embeddedFont>
    <p:embeddedFont>
      <p:font typeface="Inter Light" panose="020B0604020202020204" charset="0"/>
      <p:regular r:id="rId29"/>
      <p:bold r:id="rId30"/>
      <p:italic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Play" panose="020B0604020202020204" charset="0"/>
      <p:regular r:id="rId37"/>
      <p:bold r:id="rId38"/>
    </p:embeddedFont>
    <p:embeddedFont>
      <p:font typeface="Playfair Display" panose="00000500000000000000" pitchFamily="2" charset="0"/>
      <p:regular r:id="rId39"/>
      <p:bold r:id="rId40"/>
      <p:italic r:id="rId41"/>
      <p:boldItalic r:id="rId42"/>
    </p:embeddedFont>
    <p:embeddedFont>
      <p:font typeface="Playfair Display SemiBold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iFp3nHH49CfPK9hO1d0FxCtDby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9C40C3-FAF7-3CE5-CAD1-165E24AE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ACF0CA9E-945D-D37E-2674-4E665159C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47B3A7AE-BD28-77AD-C670-193BD5A7B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952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A50610-1B38-0BB3-B628-552C7A6D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6E96F413-DF1A-FD3D-1030-430FAA788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60585E02-4284-FBF9-2B65-A8ECDC509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0079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EF328C2-A5E2-DEAC-7588-78BE4A95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656E0074-0708-7903-608D-39634F92AA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49C5143E-BB63-1B5E-DBBB-FC3930AFE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3824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0CAC5EE3-CFC1-D788-F0B5-965EE43E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84E39D73-0913-1AE7-CBC0-19486C1A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4E60A6B2-DC93-C1B9-730D-DD5953F68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3975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EEBDE31-F64F-FE62-8B05-E98CE285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7D7C19A1-8A24-9A38-F292-470570208E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C48094C8-AD4C-01C3-2054-58F5F5435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0583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6B72EBB-57DC-E6F1-1A9B-3A079FF6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EACF3FE9-B32B-9E80-249B-A53E5A39A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C7389490-C5C1-7B51-27A5-8577B1D9C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6977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120F338-9A40-0EA2-FCC4-6F16F373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37DAD0FE-2313-FD25-0E74-149A8A49C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D701BC88-EEF6-4871-F484-D81D91FFF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63453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77B5F49-1479-FA4E-8A99-4426E403D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1B6C6123-6AEB-B0DD-4697-3783FEFD1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93175D05-D95E-7D72-A410-D25D59A27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5564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AED9BB6-B8FA-34B4-76AA-736853806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>
            <a:extLst>
              <a:ext uri="{FF2B5EF4-FFF2-40B4-BE49-F238E27FC236}">
                <a16:creationId xmlns:a16="http://schemas.microsoft.com/office/drawing/2014/main" id="{74D25CDD-DB3F-EE87-5B99-CB228069C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0:notes">
            <a:extLst>
              <a:ext uri="{FF2B5EF4-FFF2-40B4-BE49-F238E27FC236}">
                <a16:creationId xmlns:a16="http://schemas.microsoft.com/office/drawing/2014/main" id="{2EFC169B-218B-6494-9B4C-C8A5269E10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57992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214d61976f7a87a9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h214d61976f7a87a9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214d61976f7a87a9_0_9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h214d61976f7a87a9_0_9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214d61976f7a87a9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h214d61976f7a87a9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214d61976f7a87a9_0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h214d61976f7a87a9_0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214d61976f7a87a9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h214d61976f7a87a9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214d61976f7a87a9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h214d61976f7a87a9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7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7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7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6" name="Google Shape;16;p17"/>
          <p:cNvSpPr txBox="1">
            <a:spLocks noGrp="1"/>
          </p:cNvSpPr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1">
  <p:cSld name="INTERIOR 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2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8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8"/>
            <p:cNvSpPr/>
            <p:nvPr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8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8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8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9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9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3">
  <p:cSld name="INTERIOR 3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1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1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2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p21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21"/>
            <p:cNvSpPr/>
            <p:nvPr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1"/>
            <p:cNvSpPr/>
            <p:nvPr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21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21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21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2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3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3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3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PA FINAL">
  <p:cSld name="TAPA FINAL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24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70" name="Google Shape;70;p2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" name="Google Shape;7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2">
  <p:cSld name="INTERIOR 2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5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 flipH="1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5"/>
          <p:cNvSpPr txBox="1">
            <a:spLocks noGrp="1"/>
          </p:cNvSpPr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body" idx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9" name="Google Shape;79;p25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80" name="Google Shape;80;p25"/>
            <p:cNvSpPr/>
            <p:nvPr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5"/>
            <p:cNvSpPr/>
            <p:nvPr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5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83" name="Google Shape;83;p25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4" name="Google Shape;84;p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5" name="Google Shape;8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14d61976f7a87a9_0_9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214d61976f7a87a9_0_9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214d61976f7a87a9_0_9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5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u/1/d/1_e70531VlTUXvCRtzQLf2WxpTguVw1z0PlRSCGGUwPw/ed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docs.google.com/spreadsheets/u/1/d/1crPYgY8ilmUEv2xPfLgRRcGBV_h_iNEz8eKxRGVzrzE/edi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>
            <a:spLocks noGrp="1"/>
          </p:cNvSpPr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CAPSTONE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Etapa </a:t>
            </a:r>
            <a:r>
              <a:rPr lang="en-US"/>
              <a:t>2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6937285" y="4305507"/>
            <a:ext cx="462606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sz="2800" i="1"/>
              <a:t>Essenzia</a:t>
            </a:r>
            <a:endParaRPr sz="2800" i="1"/>
          </a:p>
        </p:txBody>
      </p:sp>
      <p:sp>
        <p:nvSpPr>
          <p:cNvPr id="96" name="Google Shape;96;p1"/>
          <p:cNvSpPr txBox="1"/>
          <p:nvPr/>
        </p:nvSpPr>
        <p:spPr>
          <a:xfrm>
            <a:off x="6257925" y="4952231"/>
            <a:ext cx="72963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Alexander Andrades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Manuel Pinto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body" idx="1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Índice/Agenda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2"/>
          </p:nvPr>
        </p:nvSpPr>
        <p:spPr>
          <a:xfrm>
            <a:off x="654685" y="1619480"/>
            <a:ext cx="7369810" cy="361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dirty="0"/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800" dirty="0" err="1"/>
              <a:t>Resumen</a:t>
            </a:r>
            <a:r>
              <a:rPr lang="en-US" sz="2800" dirty="0"/>
              <a:t> del Proyecto</a:t>
            </a:r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800" dirty="0"/>
              <a:t>Foco de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Avances</a:t>
            </a:r>
            <a:endParaRPr dirty="0"/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800" dirty="0" err="1"/>
              <a:t>Planificación</a:t>
            </a:r>
            <a:r>
              <a:rPr lang="en-US" sz="2800" dirty="0"/>
              <a:t> (Carta Gantt)</a:t>
            </a:r>
            <a:endParaRPr dirty="0"/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800" dirty="0"/>
              <a:t>ERS</a:t>
            </a:r>
            <a:endParaRPr dirty="0"/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800" dirty="0" err="1"/>
              <a:t>Modelamiento</a:t>
            </a:r>
            <a:r>
              <a:rPr lang="en-US" sz="2800" dirty="0"/>
              <a:t> UML (Casos de Uso)</a:t>
            </a:r>
            <a:endParaRPr sz="2800" dirty="0">
              <a:latin typeface="Arial"/>
              <a:ea typeface="Arial"/>
              <a:cs typeface="Arial"/>
              <a:sym typeface="Arial"/>
            </a:endParaRPr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800" dirty="0" err="1"/>
              <a:t>Arquitectura</a:t>
            </a:r>
            <a:r>
              <a:rPr lang="en-US" sz="2800" dirty="0"/>
              <a:t> de Datos</a:t>
            </a:r>
            <a:endParaRPr sz="2800" dirty="0"/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800" dirty="0" err="1"/>
              <a:t>Prototipos</a:t>
            </a:r>
            <a:r>
              <a:rPr lang="en-US" sz="2800" dirty="0"/>
              <a:t> </a:t>
            </a:r>
            <a:endParaRPr sz="2800" dirty="0"/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sz="2800" dirty="0" err="1"/>
              <a:t>Monitoreo</a:t>
            </a:r>
            <a:r>
              <a:rPr lang="en-US" sz="2800" dirty="0"/>
              <a:t> y </a:t>
            </a:r>
            <a:r>
              <a:rPr lang="en-US" sz="2800" dirty="0" err="1"/>
              <a:t>Siguientes</a:t>
            </a:r>
            <a:r>
              <a:rPr lang="en-US" sz="2800" dirty="0"/>
              <a:t> Pasos</a:t>
            </a:r>
            <a:endParaRPr sz="2800" dirty="0"/>
          </a:p>
          <a:p>
            <a:pPr marL="514350" lvl="0" indent="-50101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sz="2800" dirty="0" err="1">
                <a:latin typeface="Arial"/>
                <a:ea typeface="Arial"/>
                <a:cs typeface="Arial"/>
                <a:sym typeface="Arial"/>
              </a:rPr>
              <a:t>Conclusiones</a:t>
            </a:r>
            <a:r>
              <a:rPr lang="en-US" sz="2800" dirty="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800" dirty="0" err="1">
                <a:latin typeface="Arial"/>
                <a:ea typeface="Arial"/>
                <a:cs typeface="Arial"/>
                <a:sym typeface="Arial"/>
              </a:rPr>
              <a:t>Reflexiones</a:t>
            </a:r>
            <a:endParaRPr dirty="0"/>
          </a:p>
          <a:p>
            <a:pPr marL="227965" lvl="0" indent="-768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EAB13FE-EDEF-5C89-46FE-59548E98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7;h214d61976f7a87a9_0_0">
            <a:extLst>
              <a:ext uri="{FF2B5EF4-FFF2-40B4-BE49-F238E27FC236}">
                <a16:creationId xmlns:a16="http://schemas.microsoft.com/office/drawing/2014/main" id="{0521B6A7-5EC1-AD0F-B510-DB90852255C7}"/>
              </a:ext>
            </a:extLst>
          </p:cNvPr>
          <p:cNvSpPr/>
          <p:nvPr/>
        </p:nvSpPr>
        <p:spPr>
          <a:xfrm>
            <a:off x="609600" y="2305050"/>
            <a:ext cx="3505200" cy="37911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8;h214d61976f7a87a9_0_0">
            <a:extLst>
              <a:ext uri="{FF2B5EF4-FFF2-40B4-BE49-F238E27FC236}">
                <a16:creationId xmlns:a16="http://schemas.microsoft.com/office/drawing/2014/main" id="{6330F2DD-2E34-D73A-3B20-F999A11B1F58}"/>
              </a:ext>
            </a:extLst>
          </p:cNvPr>
          <p:cNvSpPr/>
          <p:nvPr/>
        </p:nvSpPr>
        <p:spPr>
          <a:xfrm>
            <a:off x="4343400" y="2305050"/>
            <a:ext cx="3505200" cy="37911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09;h214d61976f7a87a9_0_0">
            <a:extLst>
              <a:ext uri="{FF2B5EF4-FFF2-40B4-BE49-F238E27FC236}">
                <a16:creationId xmlns:a16="http://schemas.microsoft.com/office/drawing/2014/main" id="{26A61F76-82C6-8436-FD5E-0C85310C8ABF}"/>
              </a:ext>
            </a:extLst>
          </p:cNvPr>
          <p:cNvSpPr/>
          <p:nvPr/>
        </p:nvSpPr>
        <p:spPr>
          <a:xfrm>
            <a:off x="8077200" y="2305050"/>
            <a:ext cx="3505200" cy="37911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3;h214d61976f7a87a9_0_0" descr="image.png">
            <a:extLst>
              <a:ext uri="{FF2B5EF4-FFF2-40B4-BE49-F238E27FC236}">
                <a16:creationId xmlns:a16="http://schemas.microsoft.com/office/drawing/2014/main" id="{CC354EBF-0D63-8F4A-BA37-CA89E85F6D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27241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14;h214d61976f7a87a9_0_0" descr="image.png">
            <a:extLst>
              <a:ext uri="{FF2B5EF4-FFF2-40B4-BE49-F238E27FC236}">
                <a16:creationId xmlns:a16="http://schemas.microsoft.com/office/drawing/2014/main" id="{D677BB04-1254-530B-8972-D2CBAD9DD3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4400" y="27241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15;h214d61976f7a87a9_0_0" descr="image.png">
            <a:extLst>
              <a:ext uri="{FF2B5EF4-FFF2-40B4-BE49-F238E27FC236}">
                <a16:creationId xmlns:a16="http://schemas.microsoft.com/office/drawing/2014/main" id="{C23B0700-5D95-965D-BDC7-164EEE80C6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8200" y="272415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7;h214d61976f7a87a9_0_0">
            <a:extLst>
              <a:ext uri="{FF2B5EF4-FFF2-40B4-BE49-F238E27FC236}">
                <a16:creationId xmlns:a16="http://schemas.microsoft.com/office/drawing/2014/main" id="{458F4196-3235-9CCC-12B1-05A2D84C2DD4}"/>
              </a:ext>
            </a:extLst>
          </p:cNvPr>
          <p:cNvSpPr txBox="1"/>
          <p:nvPr/>
        </p:nvSpPr>
        <p:spPr>
          <a:xfrm>
            <a:off x="3080478" y="997650"/>
            <a:ext cx="6031043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Objetivos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la Presentación</a:t>
            </a:r>
            <a:endParaRPr dirty="0"/>
          </a:p>
        </p:txBody>
      </p:sp>
      <p:sp>
        <p:nvSpPr>
          <p:cNvPr id="21" name="Google Shape;118;h214d61976f7a87a9_0_0">
            <a:extLst>
              <a:ext uri="{FF2B5EF4-FFF2-40B4-BE49-F238E27FC236}">
                <a16:creationId xmlns:a16="http://schemas.microsoft.com/office/drawing/2014/main" id="{5CF39C03-3E3C-4AD1-CBF9-2C0CCE4B0E93}"/>
              </a:ext>
            </a:extLst>
          </p:cNvPr>
          <p:cNvSpPr txBox="1"/>
          <p:nvPr/>
        </p:nvSpPr>
        <p:spPr>
          <a:xfrm>
            <a:off x="990600" y="3257550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Base Documental</a:t>
            </a:r>
            <a:endParaRPr/>
          </a:p>
        </p:txBody>
      </p:sp>
      <p:sp>
        <p:nvSpPr>
          <p:cNvPr id="23" name="Google Shape;119;h214d61976f7a87a9_0_0">
            <a:extLst>
              <a:ext uri="{FF2B5EF4-FFF2-40B4-BE49-F238E27FC236}">
                <a16:creationId xmlns:a16="http://schemas.microsoft.com/office/drawing/2014/main" id="{03EAEF7B-96BD-49C2-929B-675AB711DBEF}"/>
              </a:ext>
            </a:extLst>
          </p:cNvPr>
          <p:cNvSpPr txBox="1"/>
          <p:nvPr/>
        </p:nvSpPr>
        <p:spPr>
          <a:xfrm>
            <a:off x="990600" y="3695700"/>
            <a:ext cx="2838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Consolidación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requerimientos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funcionales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reglas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negocio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bajo norma.</a:t>
            </a:r>
            <a:endParaRPr dirty="0"/>
          </a:p>
        </p:txBody>
      </p:sp>
      <p:sp>
        <p:nvSpPr>
          <p:cNvPr id="25" name="Google Shape;120;h214d61976f7a87a9_0_0">
            <a:extLst>
              <a:ext uri="{FF2B5EF4-FFF2-40B4-BE49-F238E27FC236}">
                <a16:creationId xmlns:a16="http://schemas.microsoft.com/office/drawing/2014/main" id="{BDCB7FA6-4D27-416F-E17D-A9E5FC44A30D}"/>
              </a:ext>
            </a:extLst>
          </p:cNvPr>
          <p:cNvSpPr txBox="1"/>
          <p:nvPr/>
        </p:nvSpPr>
        <p:spPr>
          <a:xfrm>
            <a:off x="4724400" y="3257550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Modelado Visual</a:t>
            </a:r>
            <a:endParaRPr/>
          </a:p>
        </p:txBody>
      </p:sp>
      <p:sp>
        <p:nvSpPr>
          <p:cNvPr id="27" name="Google Shape;121;h214d61976f7a87a9_0_0">
            <a:extLst>
              <a:ext uri="{FF2B5EF4-FFF2-40B4-BE49-F238E27FC236}">
                <a16:creationId xmlns:a16="http://schemas.microsoft.com/office/drawing/2014/main" id="{7BF8016B-2BC6-7905-17B9-011119B26EBB}"/>
              </a:ext>
            </a:extLst>
          </p:cNvPr>
          <p:cNvSpPr txBox="1"/>
          <p:nvPr/>
        </p:nvSpPr>
        <p:spPr>
          <a:xfrm>
            <a:off x="4724400" y="3695700"/>
            <a:ext cx="2838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Traducción de flujos operativos en diagramas UML y arquitectónicos.</a:t>
            </a:r>
            <a:endParaRPr/>
          </a:p>
        </p:txBody>
      </p:sp>
      <p:sp>
        <p:nvSpPr>
          <p:cNvPr id="29" name="Google Shape;122;h214d61976f7a87a9_0_0">
            <a:extLst>
              <a:ext uri="{FF2B5EF4-FFF2-40B4-BE49-F238E27FC236}">
                <a16:creationId xmlns:a16="http://schemas.microsoft.com/office/drawing/2014/main" id="{D4DDFB58-25FE-5D48-D877-41E327166658}"/>
              </a:ext>
            </a:extLst>
          </p:cNvPr>
          <p:cNvSpPr txBox="1"/>
          <p:nvPr/>
        </p:nvSpPr>
        <p:spPr>
          <a:xfrm>
            <a:off x="8458200" y="3257550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Diseño Interactivo</a:t>
            </a:r>
            <a:endParaRPr/>
          </a:p>
        </p:txBody>
      </p:sp>
      <p:sp>
        <p:nvSpPr>
          <p:cNvPr id="31" name="Google Shape;123;h214d61976f7a87a9_0_0">
            <a:extLst>
              <a:ext uri="{FF2B5EF4-FFF2-40B4-BE49-F238E27FC236}">
                <a16:creationId xmlns:a16="http://schemas.microsoft.com/office/drawing/2014/main" id="{5FE2FEA8-3D12-6043-B6B4-34828B86E635}"/>
              </a:ext>
            </a:extLst>
          </p:cNvPr>
          <p:cNvSpPr txBox="1"/>
          <p:nvPr/>
        </p:nvSpPr>
        <p:spPr>
          <a:xfrm>
            <a:off x="8458200" y="3695700"/>
            <a:ext cx="2838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Prototipado inicial de interfaces UI/UX validando la experiencia consultiva.</a:t>
            </a:r>
            <a:endParaRPr/>
          </a:p>
        </p:txBody>
      </p:sp>
      <p:sp>
        <p:nvSpPr>
          <p:cNvPr id="33" name="Google Shape;110;h214d61976f7a87a9_0_0">
            <a:extLst>
              <a:ext uri="{FF2B5EF4-FFF2-40B4-BE49-F238E27FC236}">
                <a16:creationId xmlns:a16="http://schemas.microsoft.com/office/drawing/2014/main" id="{9EFBCE0B-FC24-034D-A689-704CAAF0953A}"/>
              </a:ext>
            </a:extLst>
          </p:cNvPr>
          <p:cNvSpPr/>
          <p:nvPr/>
        </p:nvSpPr>
        <p:spPr>
          <a:xfrm>
            <a:off x="609600" y="2305050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111;h214d61976f7a87a9_0_0">
            <a:extLst>
              <a:ext uri="{FF2B5EF4-FFF2-40B4-BE49-F238E27FC236}">
                <a16:creationId xmlns:a16="http://schemas.microsoft.com/office/drawing/2014/main" id="{FE467CCC-3EE9-88DE-C4D9-4FD4AB380910}"/>
              </a:ext>
            </a:extLst>
          </p:cNvPr>
          <p:cNvSpPr/>
          <p:nvPr/>
        </p:nvSpPr>
        <p:spPr>
          <a:xfrm>
            <a:off x="4343400" y="2305050"/>
            <a:ext cx="35052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112;h214d61976f7a87a9_0_0">
            <a:extLst>
              <a:ext uri="{FF2B5EF4-FFF2-40B4-BE49-F238E27FC236}">
                <a16:creationId xmlns:a16="http://schemas.microsoft.com/office/drawing/2014/main" id="{3EACFED0-32A4-E22A-B5C5-AFCBF6F854F9}"/>
              </a:ext>
            </a:extLst>
          </p:cNvPr>
          <p:cNvSpPr/>
          <p:nvPr/>
        </p:nvSpPr>
        <p:spPr>
          <a:xfrm>
            <a:off x="8077200" y="2305050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737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DA46074-1F25-3106-0864-3927CCE0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5;p4">
            <a:extLst>
              <a:ext uri="{FF2B5EF4-FFF2-40B4-BE49-F238E27FC236}">
                <a16:creationId xmlns:a16="http://schemas.microsoft.com/office/drawing/2014/main" id="{A52C7399-54CB-6086-91AB-78035FDB7C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6238" y="1285874"/>
            <a:ext cx="4791077" cy="40481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30;p10">
            <a:extLst>
              <a:ext uri="{FF2B5EF4-FFF2-40B4-BE49-F238E27FC236}">
                <a16:creationId xmlns:a16="http://schemas.microsoft.com/office/drawing/2014/main" id="{EC3F505A-DD79-CD43-D733-CB21847BD89D}"/>
              </a:ext>
            </a:extLst>
          </p:cNvPr>
          <p:cNvSpPr txBox="1"/>
          <p:nvPr/>
        </p:nvSpPr>
        <p:spPr>
          <a:xfrm>
            <a:off x="340053" y="1226882"/>
            <a:ext cx="6011588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1400"/>
              <a:buFont typeface="Arial"/>
              <a:buChar char="•"/>
            </a:pPr>
            <a:r>
              <a:rPr lang="es-MX" sz="140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El e-</a:t>
            </a:r>
            <a:r>
              <a:rPr lang="es-MX" sz="140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commerce</a:t>
            </a:r>
            <a:r>
              <a:rPr lang="es-MX" sz="140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de perfumería enfrenta una alta tasa de abandono de carritos de compra debido a la imposibilidad de percibir el aroma antes de la compra, lo que genera desconfianza entre los usuarios y la barrera de la "compra a ciegas" en catálogos estáticos.</a:t>
            </a:r>
            <a:endParaRPr sz="20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0;p10">
            <a:extLst>
              <a:ext uri="{FF2B5EF4-FFF2-40B4-BE49-F238E27FC236}">
                <a16:creationId xmlns:a16="http://schemas.microsoft.com/office/drawing/2014/main" id="{334FA122-69E6-3328-EFE3-6BC2991DCC30}"/>
              </a:ext>
            </a:extLst>
          </p:cNvPr>
          <p:cNvSpPr txBox="1"/>
          <p:nvPr/>
        </p:nvSpPr>
        <p:spPr>
          <a:xfrm>
            <a:off x="340052" y="2913114"/>
            <a:ext cx="6011588" cy="241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1400"/>
              <a:buFont typeface="Arial"/>
              <a:buChar char="•"/>
            </a:pPr>
            <a:r>
              <a:rPr lang="es-MX" sz="1400" b="1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Essenzia</a:t>
            </a:r>
            <a:r>
              <a:rPr lang="es-MX" sz="140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es una plataforma web transaccional que transforma esta experiencia mediante funcionalidades innovadoras, desde la implementación de </a:t>
            </a:r>
            <a:r>
              <a:rPr lang="es-MX" sz="1400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Essenzia</a:t>
            </a:r>
            <a:r>
              <a:rPr lang="es-MX" sz="1400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Match (algoritmo de recomendación personalizada), un visualizador dinámico de la pirámide olfativa de cada perfume, sumado a un control deslizante que simula la proyección de la fragancia y kits de prueba con crédito digital acumulable.</a:t>
            </a:r>
            <a:endParaRPr sz="20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14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>
            <a:spLocks noGrp="1"/>
          </p:cNvSpPr>
          <p:nvPr>
            <p:ph type="body" idx="1"/>
          </p:nvPr>
        </p:nvSpPr>
        <p:spPr>
          <a:xfrm>
            <a:off x="558161" y="604248"/>
            <a:ext cx="51936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3200"/>
              <a:buNone/>
            </a:pPr>
            <a:r>
              <a:rPr lang="en-US" sz="3200" b="1" i="0" u="none" strike="noStrike" cap="none">
                <a:solidFill>
                  <a:srgbClr val="18181B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Metodología de Trabajo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129" name="Google Shape;129;p10" title="xddddd.jpg"/>
          <p:cNvPicPr preferRelativeResize="0"/>
          <p:nvPr/>
        </p:nvPicPr>
        <p:blipFill rotWithShape="1">
          <a:blip r:embed="rId3">
            <a:alphaModFix/>
          </a:blip>
          <a:srcRect l="22067" r="22067"/>
          <a:stretch/>
        </p:blipFill>
        <p:spPr>
          <a:xfrm>
            <a:off x="1080833" y="1714594"/>
            <a:ext cx="4148320" cy="395079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 txBox="1"/>
          <p:nvPr/>
        </p:nvSpPr>
        <p:spPr>
          <a:xfrm>
            <a:off x="6096000" y="2394871"/>
            <a:ext cx="5000700" cy="10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1400"/>
              <a:buFont typeface="Arial"/>
              <a:buChar char="•"/>
            </a:pPr>
            <a:r>
              <a:rPr lang="en-US" sz="1400" b="1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Modelo </a:t>
            </a:r>
            <a:r>
              <a:rPr lang="en-US" sz="1400" b="1" i="0" u="none" strike="noStrike" cap="none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00" b="1" i="0" u="none" strike="noStrike" cap="none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Cascada (Waterfall):</a:t>
            </a:r>
            <a:r>
              <a:rPr lang="en-US" sz="1400" b="1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Fases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definidas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y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secuenciales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(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Análisis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Diseño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Desarrollo,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Pruebas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Despliegue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) para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asegurar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entregables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400" b="0" i="0" u="none" strike="noStrike" cap="none" dirty="0" err="1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formales</a:t>
            </a:r>
            <a:r>
              <a:rPr lang="en-US" sz="1400" b="0" i="0" u="none" strike="noStrike" cap="none" dirty="0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6096000" y="3728505"/>
            <a:ext cx="5000700" cy="10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1400"/>
              <a:buFont typeface="Arial"/>
              <a:buChar char="•"/>
            </a:pPr>
            <a:r>
              <a:rPr lang="en-US" sz="1400" b="1" i="0" u="none" strike="noStrike" cap="none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Design Thinking:</a:t>
            </a:r>
            <a:r>
              <a:rPr lang="en-US" sz="1400" b="1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400" b="0" i="0" u="none" strike="noStrike" cap="none">
                <a:solidFill>
                  <a:srgbClr val="3F3F46"/>
                </a:solidFill>
                <a:latin typeface="Inter Light"/>
                <a:ea typeface="Inter Light"/>
                <a:cs typeface="Inter Light"/>
                <a:sym typeface="Inter Light"/>
              </a:rPr>
              <a:t>Traducción de conceptos abstractos y flujos de negocio en mapas mentales, diagramas y wireframes UI/UX de alta fidelidad.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FED495A-2061-A969-3F53-21D80B231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8;h214d61976f7a87a9_0_99">
            <a:extLst>
              <a:ext uri="{FF2B5EF4-FFF2-40B4-BE49-F238E27FC236}">
                <a16:creationId xmlns:a16="http://schemas.microsoft.com/office/drawing/2014/main" id="{32A1B6D3-4BFD-69DC-8962-D239CDD39F0C}"/>
              </a:ext>
            </a:extLst>
          </p:cNvPr>
          <p:cNvSpPr txBox="1"/>
          <p:nvPr/>
        </p:nvSpPr>
        <p:spPr>
          <a:xfrm>
            <a:off x="7544139" y="843534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16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semanas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sincronizadas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al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calendario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académico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7" name="Google Shape;142;h214d61976f7a87a9_0_99">
            <a:extLst>
              <a:ext uri="{FF2B5EF4-FFF2-40B4-BE49-F238E27FC236}">
                <a16:creationId xmlns:a16="http://schemas.microsoft.com/office/drawing/2014/main" id="{0CEC56F4-1F28-C7E8-B045-C04ED66A33E6}"/>
              </a:ext>
            </a:extLst>
          </p:cNvPr>
          <p:cNvSpPr txBox="1"/>
          <p:nvPr/>
        </p:nvSpPr>
        <p:spPr>
          <a:xfrm>
            <a:off x="255639" y="716634"/>
            <a:ext cx="728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Planificación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(Carta Gantt)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807BE52-213B-559F-184A-561823324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06" y="1299465"/>
            <a:ext cx="11090787" cy="4259069"/>
          </a:xfrm>
          <a:prstGeom prst="rect">
            <a:avLst/>
          </a:prstGeom>
        </p:spPr>
      </p:pic>
      <p:sp>
        <p:nvSpPr>
          <p:cNvPr id="11" name="Google Shape;138;h214d61976f7a87a9_0_99">
            <a:extLst>
              <a:ext uri="{FF2B5EF4-FFF2-40B4-BE49-F238E27FC236}">
                <a16:creationId xmlns:a16="http://schemas.microsoft.com/office/drawing/2014/main" id="{918446AA-7E1B-610D-5E39-2FBA7FBD2014}"/>
              </a:ext>
            </a:extLst>
          </p:cNvPr>
          <p:cNvSpPr txBox="1"/>
          <p:nvPr/>
        </p:nvSpPr>
        <p:spPr>
          <a:xfrm>
            <a:off x="4738590" y="5806565"/>
            <a:ext cx="271481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Montserrat"/>
                <a:sym typeface="Montserrat"/>
              </a:rPr>
              <a:t>* Extracto Carta Gantt </a:t>
            </a:r>
            <a:r>
              <a:rPr lang="en-US" sz="1350" dirty="0" err="1">
                <a:solidFill>
                  <a:schemeClr val="tx1"/>
                </a:solidFill>
                <a:latin typeface="Montserrat"/>
                <a:sym typeface="Montserrat"/>
              </a:rPr>
              <a:t>Essenzia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87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7C798EC-3C96-8358-3682-5DEA47385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7;h214d61976f7a87a9_0_184">
            <a:extLst>
              <a:ext uri="{FF2B5EF4-FFF2-40B4-BE49-F238E27FC236}">
                <a16:creationId xmlns:a16="http://schemas.microsoft.com/office/drawing/2014/main" id="{20C4EE9A-076A-2AD8-FF82-6B4D3160EC61}"/>
              </a:ext>
            </a:extLst>
          </p:cNvPr>
          <p:cNvSpPr/>
          <p:nvPr/>
        </p:nvSpPr>
        <p:spPr>
          <a:xfrm>
            <a:off x="6096025" y="762000"/>
            <a:ext cx="5486400" cy="5334000"/>
          </a:xfrm>
          <a:prstGeom prst="roundRect">
            <a:avLst>
              <a:gd name="adj" fmla="val 2142"/>
            </a:avLst>
          </a:prstGeom>
          <a:solidFill>
            <a:srgbClr val="F1F5F9"/>
          </a:solidFill>
          <a:ln w="285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0;h214d61976f7a87a9_0_184">
            <a:extLst>
              <a:ext uri="{FF2B5EF4-FFF2-40B4-BE49-F238E27FC236}">
                <a16:creationId xmlns:a16="http://schemas.microsoft.com/office/drawing/2014/main" id="{6B9E5E03-041D-1D1A-2984-6FFE52130657}"/>
              </a:ext>
            </a:extLst>
          </p:cNvPr>
          <p:cNvSpPr/>
          <p:nvPr/>
        </p:nvSpPr>
        <p:spPr>
          <a:xfrm>
            <a:off x="609600" y="4177605"/>
            <a:ext cx="28500" cy="552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51;h214d61976f7a87a9_0_184">
            <a:extLst>
              <a:ext uri="{FF2B5EF4-FFF2-40B4-BE49-F238E27FC236}">
                <a16:creationId xmlns:a16="http://schemas.microsoft.com/office/drawing/2014/main" id="{4CA52B37-FE91-D9A2-8261-8150976D127F}"/>
              </a:ext>
            </a:extLst>
          </p:cNvPr>
          <p:cNvSpPr/>
          <p:nvPr/>
        </p:nvSpPr>
        <p:spPr>
          <a:xfrm>
            <a:off x="609600" y="4958655"/>
            <a:ext cx="28500" cy="552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53;h214d61976f7a87a9_0_184">
            <a:extLst>
              <a:ext uri="{FF2B5EF4-FFF2-40B4-BE49-F238E27FC236}">
                <a16:creationId xmlns:a16="http://schemas.microsoft.com/office/drawing/2014/main" id="{E345E312-65F6-ECB8-2DE4-2DFFD5B004F0}"/>
              </a:ext>
            </a:extLst>
          </p:cNvPr>
          <p:cNvSpPr txBox="1"/>
          <p:nvPr/>
        </p:nvSpPr>
        <p:spPr>
          <a:xfrm>
            <a:off x="609600" y="1670744"/>
            <a:ext cx="52206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Especificación</a:t>
            </a:r>
            <a:r>
              <a:rPr lang="en-US" sz="32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2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 </a:t>
            </a:r>
            <a:r>
              <a:rPr lang="en-US" sz="3200" b="1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Requisitos</a:t>
            </a:r>
            <a:r>
              <a:rPr lang="en-US" sz="32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y Casos de Uso</a:t>
            </a:r>
            <a:endParaRPr sz="1200" dirty="0"/>
          </a:p>
        </p:txBody>
      </p:sp>
      <p:sp>
        <p:nvSpPr>
          <p:cNvPr id="13" name="Google Shape;154;h214d61976f7a87a9_0_184">
            <a:extLst>
              <a:ext uri="{FF2B5EF4-FFF2-40B4-BE49-F238E27FC236}">
                <a16:creationId xmlns:a16="http://schemas.microsoft.com/office/drawing/2014/main" id="{6679CC32-7F80-1444-29E6-7FDF2A1F8A81}"/>
              </a:ext>
            </a:extLst>
          </p:cNvPr>
          <p:cNvSpPr txBox="1"/>
          <p:nvPr/>
        </p:nvSpPr>
        <p:spPr>
          <a:xfrm>
            <a:off x="623850" y="3036659"/>
            <a:ext cx="511277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Estandarizado</a:t>
            </a:r>
            <a:r>
              <a:rPr lang="en-US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bajo norma IEEE 830 para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asegurar</a:t>
            </a:r>
            <a:r>
              <a:rPr lang="en-US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trazabilidad</a:t>
            </a:r>
            <a:r>
              <a:rPr lang="en-US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prevenir</a:t>
            </a:r>
            <a:r>
              <a:rPr lang="en-US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posibles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desviaciones</a:t>
            </a:r>
            <a:r>
              <a:rPr lang="en-US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alcance</a:t>
            </a:r>
            <a:r>
              <a:rPr lang="en-US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 dirty="0"/>
          </a:p>
        </p:txBody>
      </p:sp>
      <p:sp>
        <p:nvSpPr>
          <p:cNvPr id="15" name="Google Shape;155;h214d61976f7a87a9_0_184">
            <a:extLst>
              <a:ext uri="{FF2B5EF4-FFF2-40B4-BE49-F238E27FC236}">
                <a16:creationId xmlns:a16="http://schemas.microsoft.com/office/drawing/2014/main" id="{FE19E606-6A6F-99B1-5B0C-27C71AF0AE06}"/>
              </a:ext>
            </a:extLst>
          </p:cNvPr>
          <p:cNvSpPr txBox="1"/>
          <p:nvPr/>
        </p:nvSpPr>
        <p:spPr>
          <a:xfrm>
            <a:off x="6761868" y="1915200"/>
            <a:ext cx="6024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ERS Essenzia</a:t>
            </a:r>
            <a:r>
              <a:rPr lang="en-US"/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(Especificación de RFs/RNFs)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17" name="Google Shape;156;h214d61976f7a87a9_0_184">
            <a:extLst>
              <a:ext uri="{FF2B5EF4-FFF2-40B4-BE49-F238E27FC236}">
                <a16:creationId xmlns:a16="http://schemas.microsoft.com/office/drawing/2014/main" id="{43B23FDF-0C89-CBB1-3BE6-813D569D0426}"/>
              </a:ext>
            </a:extLst>
          </p:cNvPr>
          <p:cNvSpPr txBox="1"/>
          <p:nvPr/>
        </p:nvSpPr>
        <p:spPr>
          <a:xfrm>
            <a:off x="7759823" y="4207600"/>
            <a:ext cx="4028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b="1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Casos de Uso</a:t>
            </a:r>
            <a:endParaRPr>
              <a:solidFill>
                <a:schemeClr val="accent3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57;h214d61976f7a87a9_0_184">
            <a:extLst>
              <a:ext uri="{FF2B5EF4-FFF2-40B4-BE49-F238E27FC236}">
                <a16:creationId xmlns:a16="http://schemas.microsoft.com/office/drawing/2014/main" id="{20C5A064-48E3-2EB7-5D90-7D04292B7D09}"/>
              </a:ext>
            </a:extLst>
          </p:cNvPr>
          <p:cNvSpPr txBox="1"/>
          <p:nvPr/>
        </p:nvSpPr>
        <p:spPr>
          <a:xfrm>
            <a:off x="866775" y="4177605"/>
            <a:ext cx="57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/>
          </a:p>
        </p:txBody>
      </p:sp>
      <p:sp>
        <p:nvSpPr>
          <p:cNvPr id="21" name="Google Shape;158;h214d61976f7a87a9_0_184">
            <a:extLst>
              <a:ext uri="{FF2B5EF4-FFF2-40B4-BE49-F238E27FC236}">
                <a16:creationId xmlns:a16="http://schemas.microsoft.com/office/drawing/2014/main" id="{0589907D-5593-98AF-5BAF-147292129479}"/>
              </a:ext>
            </a:extLst>
          </p:cNvPr>
          <p:cNvSpPr txBox="1"/>
          <p:nvPr/>
        </p:nvSpPr>
        <p:spPr>
          <a:xfrm>
            <a:off x="866775" y="4520505"/>
            <a:ext cx="5774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Casos de Uso formalizados.</a:t>
            </a:r>
            <a:endParaRPr/>
          </a:p>
        </p:txBody>
      </p:sp>
      <p:sp>
        <p:nvSpPr>
          <p:cNvPr id="23" name="Google Shape;159;h214d61976f7a87a9_0_184">
            <a:extLst>
              <a:ext uri="{FF2B5EF4-FFF2-40B4-BE49-F238E27FC236}">
                <a16:creationId xmlns:a16="http://schemas.microsoft.com/office/drawing/2014/main" id="{6A645F71-AB20-F09C-176F-F5D7F336B6F4}"/>
              </a:ext>
            </a:extLst>
          </p:cNvPr>
          <p:cNvSpPr txBox="1"/>
          <p:nvPr/>
        </p:nvSpPr>
        <p:spPr>
          <a:xfrm>
            <a:off x="866775" y="4958655"/>
            <a:ext cx="577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RFs / RNFs</a:t>
            </a:r>
            <a:endParaRPr dirty="0"/>
          </a:p>
        </p:txBody>
      </p:sp>
      <p:sp>
        <p:nvSpPr>
          <p:cNvPr id="25" name="Google Shape;160;h214d61976f7a87a9_0_184">
            <a:extLst>
              <a:ext uri="{FF2B5EF4-FFF2-40B4-BE49-F238E27FC236}">
                <a16:creationId xmlns:a16="http://schemas.microsoft.com/office/drawing/2014/main" id="{98A75854-A284-0614-3285-1764A5A43DB1}"/>
              </a:ext>
            </a:extLst>
          </p:cNvPr>
          <p:cNvSpPr txBox="1"/>
          <p:nvPr/>
        </p:nvSpPr>
        <p:spPr>
          <a:xfrm>
            <a:off x="866775" y="5301555"/>
            <a:ext cx="5774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Lógica algorítmica y seguridad web estructurada.</a:t>
            </a:r>
            <a:endParaRPr/>
          </a:p>
        </p:txBody>
      </p:sp>
      <p:pic>
        <p:nvPicPr>
          <p:cNvPr id="27" name="Google Shape;161;h214d61976f7a87a9_0_184">
            <a:extLst>
              <a:ext uri="{FF2B5EF4-FFF2-40B4-BE49-F238E27FC236}">
                <a16:creationId xmlns:a16="http://schemas.microsoft.com/office/drawing/2014/main" id="{5A744016-DEB2-3983-7D8A-B45C94F15A7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4424" y="1093249"/>
            <a:ext cx="1979725" cy="1842900"/>
          </a:xfrm>
          <a:prstGeom prst="rect">
            <a:avLst/>
          </a:prstGeom>
          <a:solidFill>
            <a:srgbClr val="F1F5F9"/>
          </a:solidFill>
          <a:ln w="285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" name="Google Shape;162;h214d61976f7a87a9_0_184">
            <a:extLst>
              <a:ext uri="{FF2B5EF4-FFF2-40B4-BE49-F238E27FC236}">
                <a16:creationId xmlns:a16="http://schemas.microsoft.com/office/drawing/2014/main" id="{2604ACD6-8628-42E0-D1B9-EE05FC514A8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2288" y="3626400"/>
            <a:ext cx="2023999" cy="1884849"/>
          </a:xfrm>
          <a:prstGeom prst="rect">
            <a:avLst/>
          </a:prstGeom>
          <a:solidFill>
            <a:srgbClr val="F1F5F9"/>
          </a:solidFill>
          <a:ln w="2857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80766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14F9FEE5-2D9E-5272-4E62-7D04A72F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69;h214d61976f7a87a9_0_277">
            <a:extLst>
              <a:ext uri="{FF2B5EF4-FFF2-40B4-BE49-F238E27FC236}">
                <a16:creationId xmlns:a16="http://schemas.microsoft.com/office/drawing/2014/main" id="{85092A05-9E66-486A-666E-D53C295436B1}"/>
              </a:ext>
            </a:extLst>
          </p:cNvPr>
          <p:cNvSpPr txBox="1"/>
          <p:nvPr/>
        </p:nvSpPr>
        <p:spPr>
          <a:xfrm>
            <a:off x="7886700" y="1266825"/>
            <a:ext cx="379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Interacción: Cliente / Motor / Administrador</a:t>
            </a:r>
            <a:endParaRPr/>
          </a:p>
        </p:txBody>
      </p:sp>
      <p:sp>
        <p:nvSpPr>
          <p:cNvPr id="5" name="Google Shape;171;h214d61976f7a87a9_0_277">
            <a:extLst>
              <a:ext uri="{FF2B5EF4-FFF2-40B4-BE49-F238E27FC236}">
                <a16:creationId xmlns:a16="http://schemas.microsoft.com/office/drawing/2014/main" id="{E1F5BC5D-C0DD-3A51-9832-76DF12B03A7F}"/>
              </a:ext>
            </a:extLst>
          </p:cNvPr>
          <p:cNvSpPr txBox="1"/>
          <p:nvPr/>
        </p:nvSpPr>
        <p:spPr>
          <a:xfrm>
            <a:off x="609600" y="838025"/>
            <a:ext cx="7713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Diagramas de Casos de Uso (UML)</a:t>
            </a:r>
            <a:endParaRPr sz="3000" b="1" i="0" u="none" strike="noStrike" cap="none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marR="0" lvl="0" indent="-41910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Playfair Display"/>
              <a:buAutoNum type="arabicPeriod"/>
            </a:pPr>
            <a:r>
              <a:rPr lang="en-US" sz="3000" b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Caso de Uso General</a:t>
            </a:r>
            <a:endParaRPr sz="3000" b="1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" name="Google Shape;172;h214d61976f7a87a9_0_277" title="Diagrama General Caso de uso.jpg">
            <a:extLst>
              <a:ext uri="{FF2B5EF4-FFF2-40B4-BE49-F238E27FC236}">
                <a16:creationId xmlns:a16="http://schemas.microsoft.com/office/drawing/2014/main" id="{DA064AF0-BE07-8338-4872-68747C0FDC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857375"/>
            <a:ext cx="10972800" cy="4633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4267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2E23D30-5ECA-5CCF-3698-C0774B9D5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0;h214d61976f7a87a9_0_903">
            <a:extLst>
              <a:ext uri="{FF2B5EF4-FFF2-40B4-BE49-F238E27FC236}">
                <a16:creationId xmlns:a16="http://schemas.microsoft.com/office/drawing/2014/main" id="{ED2AE394-421C-D8B5-5042-71C6D26DB509}"/>
              </a:ext>
            </a:extLst>
          </p:cNvPr>
          <p:cNvSpPr txBox="1"/>
          <p:nvPr/>
        </p:nvSpPr>
        <p:spPr>
          <a:xfrm>
            <a:off x="609600" y="838025"/>
            <a:ext cx="7713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Diagramas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Casos de Uso (UML)</a:t>
            </a:r>
            <a:endParaRPr sz="3000" b="1" i="0" u="none" strike="noStrike" cap="none" dirty="0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</a:t>
            </a:r>
            <a:r>
              <a:rPr lang="en-US" sz="3000" b="1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Interacción</a:t>
            </a:r>
            <a:r>
              <a:rPr lang="en-US" sz="30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del </a:t>
            </a:r>
            <a:r>
              <a:rPr lang="en-US" sz="3000" b="1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Cliente</a:t>
            </a:r>
            <a:endParaRPr sz="3000" b="1" dirty="0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" name="Google Shape;181;h214d61976f7a87a9_0_903" title="Gemini_Generated_Image_pofnblpofnblpofn.jpg">
            <a:extLst>
              <a:ext uri="{FF2B5EF4-FFF2-40B4-BE49-F238E27FC236}">
                <a16:creationId xmlns:a16="http://schemas.microsoft.com/office/drawing/2014/main" id="{D285805E-99EB-3B1A-CDAF-6077B8A5974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857375"/>
            <a:ext cx="10972800" cy="4623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7998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E1D7E20-0ABE-3780-E5E7-78B8E308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89;h214d61976f7a87a9_0_912">
            <a:extLst>
              <a:ext uri="{FF2B5EF4-FFF2-40B4-BE49-F238E27FC236}">
                <a16:creationId xmlns:a16="http://schemas.microsoft.com/office/drawing/2014/main" id="{F32E7386-3B9D-3D3A-AE19-4AB06DD93748}"/>
              </a:ext>
            </a:extLst>
          </p:cNvPr>
          <p:cNvSpPr txBox="1"/>
          <p:nvPr/>
        </p:nvSpPr>
        <p:spPr>
          <a:xfrm>
            <a:off x="609600" y="838025"/>
            <a:ext cx="8083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Diagramas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Casos de Uso (UML)</a:t>
            </a:r>
            <a:endParaRPr sz="3000" b="1" i="0" u="none" strike="noStrike" cap="none" dirty="0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Modulo </a:t>
            </a:r>
            <a:r>
              <a:rPr lang="en-US" sz="3000" b="1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Asesor</a:t>
            </a:r>
            <a:r>
              <a:rPr lang="en-US" sz="30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Inteligente</a:t>
            </a:r>
            <a:r>
              <a:rPr lang="en-US" sz="30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</a:t>
            </a:r>
            <a:r>
              <a:rPr lang="en-US" sz="3000" b="1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Essenzia</a:t>
            </a:r>
            <a:r>
              <a:rPr lang="en-US" sz="3000" b="1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Match)</a:t>
            </a:r>
            <a:endParaRPr sz="3000" b="1" dirty="0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" name="Google Shape;190;h214d61976f7a87a9_0_912" title="Gemini_Generated_Image_tf792gtf792gtf79 (1).jpg">
            <a:extLst>
              <a:ext uri="{FF2B5EF4-FFF2-40B4-BE49-F238E27FC236}">
                <a16:creationId xmlns:a16="http://schemas.microsoft.com/office/drawing/2014/main" id="{6DC82934-8B61-697B-4A7B-35188522EB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857375"/>
            <a:ext cx="10972800" cy="464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846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E4F6D9E-E1D8-AB19-5CF4-9F0048662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98;h214d61976f7a87a9_0_921">
            <a:extLst>
              <a:ext uri="{FF2B5EF4-FFF2-40B4-BE49-F238E27FC236}">
                <a16:creationId xmlns:a16="http://schemas.microsoft.com/office/drawing/2014/main" id="{62276B52-033B-7123-589D-B994E148997A}"/>
              </a:ext>
            </a:extLst>
          </p:cNvPr>
          <p:cNvSpPr txBox="1"/>
          <p:nvPr/>
        </p:nvSpPr>
        <p:spPr>
          <a:xfrm>
            <a:off x="609600" y="838025"/>
            <a:ext cx="7713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Diagramas de Casos de Uso (UML)</a:t>
            </a:r>
            <a:endParaRPr sz="3000" b="1" i="0" u="none" strike="noStrike" cap="none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Panel Administrativo (Backend)</a:t>
            </a:r>
            <a:endParaRPr sz="3000" b="1">
              <a:solidFill>
                <a:srgbClr val="1E293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" name="Google Shape;199;h214d61976f7a87a9_0_921" title="Gemini_Generated_Image_tf792gtf792gtf79.jpg">
            <a:extLst>
              <a:ext uri="{FF2B5EF4-FFF2-40B4-BE49-F238E27FC236}">
                <a16:creationId xmlns:a16="http://schemas.microsoft.com/office/drawing/2014/main" id="{BF4C1750-E323-9881-CA5B-7061E93F9B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857375"/>
            <a:ext cx="10972800" cy="4665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3594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028AAEA-6A49-4B70-3D8F-C44F3BD0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06;h214d61976f7a87a9_0_362">
            <a:extLst>
              <a:ext uri="{FF2B5EF4-FFF2-40B4-BE49-F238E27FC236}">
                <a16:creationId xmlns:a16="http://schemas.microsoft.com/office/drawing/2014/main" id="{FD508B26-8965-1E6D-7623-A03B80AB6DCB}"/>
              </a:ext>
            </a:extLst>
          </p:cNvPr>
          <p:cNvSpPr txBox="1"/>
          <p:nvPr/>
        </p:nvSpPr>
        <p:spPr>
          <a:xfrm>
            <a:off x="7983487" y="250833"/>
            <a:ext cx="4048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Modelado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relacional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catálogo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350" b="0" i="0" u="none" strike="noStrike" cap="none" dirty="0" err="1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inventario</a:t>
            </a:r>
            <a:r>
              <a:rPr lang="en-US" sz="1350" b="0" i="0" u="none" strike="noStrike" cap="none" dirty="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9" name="Google Shape;210;h214d61976f7a87a9_0_362">
            <a:extLst>
              <a:ext uri="{FF2B5EF4-FFF2-40B4-BE49-F238E27FC236}">
                <a16:creationId xmlns:a16="http://schemas.microsoft.com/office/drawing/2014/main" id="{BAFEBD35-FD3D-A159-FEB2-B92946074EF6}"/>
              </a:ext>
            </a:extLst>
          </p:cNvPr>
          <p:cNvSpPr txBox="1"/>
          <p:nvPr/>
        </p:nvSpPr>
        <p:spPr>
          <a:xfrm>
            <a:off x="727588" y="123933"/>
            <a:ext cx="717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Arquitectura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y Modelo de Datos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30ECD84-21D0-DF5A-B01A-64E9E8102D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783"/>
          <a:stretch>
            <a:fillRect/>
          </a:stretch>
        </p:blipFill>
        <p:spPr>
          <a:xfrm>
            <a:off x="2508000" y="755662"/>
            <a:ext cx="7175999" cy="536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6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h214d61976f7a87a9_0_5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3347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h214d61976f7a87a9_0_5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69671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h214d61976f7a87a9_0_5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05866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h214d61976f7a87a9_0_532"/>
          <p:cNvSpPr txBox="1"/>
          <p:nvPr/>
        </p:nvSpPr>
        <p:spPr>
          <a:xfrm>
            <a:off x="609600" y="1604069"/>
            <a:ext cx="4857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DISEÑO INTERACTIVO UI/UX</a:t>
            </a:r>
            <a:endParaRPr/>
          </a:p>
        </p:txBody>
      </p:sp>
      <p:sp>
        <p:nvSpPr>
          <p:cNvPr id="219" name="Google Shape;219;h214d61976f7a87a9_0_532"/>
          <p:cNvSpPr txBox="1"/>
          <p:nvPr/>
        </p:nvSpPr>
        <p:spPr>
          <a:xfrm>
            <a:off x="609600" y="1927919"/>
            <a:ext cx="4180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Prototipos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Alta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Fidelidad</a:t>
            </a:r>
            <a:endParaRPr dirty="0"/>
          </a:p>
        </p:txBody>
      </p:sp>
      <p:sp>
        <p:nvSpPr>
          <p:cNvPr id="220" name="Google Shape;220;h214d61976f7a87a9_0_532"/>
          <p:cNvSpPr txBox="1"/>
          <p:nvPr/>
        </p:nvSpPr>
        <p:spPr>
          <a:xfrm>
            <a:off x="609600" y="3406080"/>
            <a:ext cx="398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Aceleración del diseño mediante generación de prompts IA para validación visual temprana en </a:t>
            </a:r>
            <a:r>
              <a:rPr lang="en-US" sz="15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Google AI</a:t>
            </a: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21" name="Google Shape;221;h214d61976f7a87a9_0_532"/>
          <p:cNvSpPr txBox="1"/>
          <p:nvPr/>
        </p:nvSpPr>
        <p:spPr>
          <a:xfrm>
            <a:off x="876300" y="43204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Enfoque </a:t>
            </a:r>
            <a:r>
              <a:rPr lang="en-US" sz="13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22" name="Google Shape;222;h214d61976f7a87a9_0_532"/>
          <p:cNvSpPr txBox="1"/>
          <p:nvPr/>
        </p:nvSpPr>
        <p:spPr>
          <a:xfrm>
            <a:off x="876300" y="468243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Visualizador olfativo interactivo.</a:t>
            </a:r>
            <a:endParaRPr/>
          </a:p>
        </p:txBody>
      </p:sp>
      <p:sp>
        <p:nvSpPr>
          <p:cNvPr id="223" name="Google Shape;223;h214d61976f7a87a9_0_532"/>
          <p:cNvSpPr txBox="1"/>
          <p:nvPr/>
        </p:nvSpPr>
        <p:spPr>
          <a:xfrm>
            <a:off x="876300" y="50443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Flujo de Checkout optimizado.</a:t>
            </a:r>
            <a:endParaRPr/>
          </a:p>
        </p:txBody>
      </p:sp>
      <p:pic>
        <p:nvPicPr>
          <p:cNvPr id="224" name="Google Shape;224;h214d61976f7a87a9_0_532" title="{086D5C05-B68A-476A-9881-BD7A2429CE1C}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1450" y="125825"/>
            <a:ext cx="7130625" cy="637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h214d61976f7a87a9_0_9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3347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h214d61976f7a87a9_0_9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69671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h214d61976f7a87a9_0_9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05866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h214d61976f7a87a9_0_935"/>
          <p:cNvSpPr txBox="1"/>
          <p:nvPr/>
        </p:nvSpPr>
        <p:spPr>
          <a:xfrm>
            <a:off x="609600" y="1604069"/>
            <a:ext cx="4857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DISEÑO INTERACTIVO UI/UX</a:t>
            </a:r>
            <a:endParaRPr/>
          </a:p>
        </p:txBody>
      </p:sp>
      <p:sp>
        <p:nvSpPr>
          <p:cNvPr id="233" name="Google Shape;233;h214d61976f7a87a9_0_935"/>
          <p:cNvSpPr txBox="1"/>
          <p:nvPr/>
        </p:nvSpPr>
        <p:spPr>
          <a:xfrm>
            <a:off x="609600" y="1927919"/>
            <a:ext cx="4180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Prototipos de Alta Fidelidad</a:t>
            </a:r>
            <a:endParaRPr/>
          </a:p>
        </p:txBody>
      </p:sp>
      <p:sp>
        <p:nvSpPr>
          <p:cNvPr id="234" name="Google Shape;234;h214d61976f7a87a9_0_935"/>
          <p:cNvSpPr txBox="1"/>
          <p:nvPr/>
        </p:nvSpPr>
        <p:spPr>
          <a:xfrm>
            <a:off x="609600" y="3406080"/>
            <a:ext cx="398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Aceleración del diseño mediante generación de prompts IA para validación visual temprana en </a:t>
            </a:r>
            <a:r>
              <a:rPr lang="en-US" sz="15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Google AI</a:t>
            </a: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35" name="Google Shape;235;h214d61976f7a87a9_0_935"/>
          <p:cNvSpPr txBox="1"/>
          <p:nvPr/>
        </p:nvSpPr>
        <p:spPr>
          <a:xfrm>
            <a:off x="876300" y="43204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Enfoque </a:t>
            </a:r>
            <a:r>
              <a:rPr lang="en-US" sz="13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36" name="Google Shape;236;h214d61976f7a87a9_0_935"/>
          <p:cNvSpPr txBox="1"/>
          <p:nvPr/>
        </p:nvSpPr>
        <p:spPr>
          <a:xfrm>
            <a:off x="876300" y="468243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Visualizador olfativo interactivo.</a:t>
            </a:r>
            <a:endParaRPr/>
          </a:p>
        </p:txBody>
      </p:sp>
      <p:sp>
        <p:nvSpPr>
          <p:cNvPr id="237" name="Google Shape;237;h214d61976f7a87a9_0_935"/>
          <p:cNvSpPr txBox="1"/>
          <p:nvPr/>
        </p:nvSpPr>
        <p:spPr>
          <a:xfrm>
            <a:off x="876300" y="50443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Flujo de Checkout optimizado.</a:t>
            </a:r>
            <a:endParaRPr/>
          </a:p>
        </p:txBody>
      </p:sp>
      <p:pic>
        <p:nvPicPr>
          <p:cNvPr id="238" name="Google Shape;238;h214d61976f7a87a9_0_935" title="{1BAE3472-1FF4-4EA8-B8A7-714385D2F773}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4600" y="120950"/>
            <a:ext cx="6759676" cy="62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h214d61976f7a87a9_0_9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3347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h214d61976f7a87a9_0_9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69671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h214d61976f7a87a9_0_9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05866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h214d61976f7a87a9_0_953"/>
          <p:cNvSpPr txBox="1"/>
          <p:nvPr/>
        </p:nvSpPr>
        <p:spPr>
          <a:xfrm>
            <a:off x="609600" y="1604069"/>
            <a:ext cx="4857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DISEÑO INTERACTIVO UI/UX</a:t>
            </a:r>
            <a:endParaRPr/>
          </a:p>
        </p:txBody>
      </p:sp>
      <p:sp>
        <p:nvSpPr>
          <p:cNvPr id="247" name="Google Shape;247;h214d61976f7a87a9_0_953"/>
          <p:cNvSpPr txBox="1"/>
          <p:nvPr/>
        </p:nvSpPr>
        <p:spPr>
          <a:xfrm>
            <a:off x="609600" y="1927919"/>
            <a:ext cx="4180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Prototipos de Alta Fidelidad</a:t>
            </a:r>
            <a:endParaRPr/>
          </a:p>
        </p:txBody>
      </p:sp>
      <p:sp>
        <p:nvSpPr>
          <p:cNvPr id="248" name="Google Shape;248;h214d61976f7a87a9_0_953"/>
          <p:cNvSpPr txBox="1"/>
          <p:nvPr/>
        </p:nvSpPr>
        <p:spPr>
          <a:xfrm>
            <a:off x="609600" y="3406080"/>
            <a:ext cx="398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Aceleración del diseño mediante generación de prompts IA para validación visual temprana en </a:t>
            </a:r>
            <a:r>
              <a:rPr lang="en-US" sz="15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Google AI</a:t>
            </a: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49" name="Google Shape;249;h214d61976f7a87a9_0_953"/>
          <p:cNvSpPr txBox="1"/>
          <p:nvPr/>
        </p:nvSpPr>
        <p:spPr>
          <a:xfrm>
            <a:off x="876300" y="43204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Enfoque </a:t>
            </a:r>
            <a:r>
              <a:rPr lang="en-US" sz="13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50" name="Google Shape;250;h214d61976f7a87a9_0_953"/>
          <p:cNvSpPr txBox="1"/>
          <p:nvPr/>
        </p:nvSpPr>
        <p:spPr>
          <a:xfrm>
            <a:off x="876300" y="468243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Visualizador olfativo interactivo.</a:t>
            </a:r>
            <a:endParaRPr/>
          </a:p>
        </p:txBody>
      </p:sp>
      <p:sp>
        <p:nvSpPr>
          <p:cNvPr id="251" name="Google Shape;251;h214d61976f7a87a9_0_953"/>
          <p:cNvSpPr txBox="1"/>
          <p:nvPr/>
        </p:nvSpPr>
        <p:spPr>
          <a:xfrm>
            <a:off x="876300" y="50443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Flujo de Checkout optimizado.</a:t>
            </a:r>
            <a:endParaRPr/>
          </a:p>
        </p:txBody>
      </p:sp>
      <p:pic>
        <p:nvPicPr>
          <p:cNvPr id="252" name="Google Shape;252;h214d61976f7a87a9_0_953" title="{B30F7952-9714-40B1-A488-4ABAA07BB130}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7500" y="120950"/>
            <a:ext cx="6419699" cy="6399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h214d61976f7a87a9_0_97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3347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h214d61976f7a87a9_0_97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69671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h214d61976f7a87a9_0_97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05866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h214d61976f7a87a9_0_971"/>
          <p:cNvSpPr txBox="1"/>
          <p:nvPr/>
        </p:nvSpPr>
        <p:spPr>
          <a:xfrm>
            <a:off x="609600" y="1604069"/>
            <a:ext cx="4857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DISEÑO INTERACTIVO UI/UX</a:t>
            </a:r>
            <a:endParaRPr/>
          </a:p>
        </p:txBody>
      </p:sp>
      <p:sp>
        <p:nvSpPr>
          <p:cNvPr id="261" name="Google Shape;261;h214d61976f7a87a9_0_971"/>
          <p:cNvSpPr txBox="1"/>
          <p:nvPr/>
        </p:nvSpPr>
        <p:spPr>
          <a:xfrm>
            <a:off x="609600" y="1927919"/>
            <a:ext cx="4180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Prototipos de Alta Fidelidad</a:t>
            </a:r>
            <a:endParaRPr/>
          </a:p>
        </p:txBody>
      </p:sp>
      <p:sp>
        <p:nvSpPr>
          <p:cNvPr id="262" name="Google Shape;262;h214d61976f7a87a9_0_971"/>
          <p:cNvSpPr txBox="1"/>
          <p:nvPr/>
        </p:nvSpPr>
        <p:spPr>
          <a:xfrm>
            <a:off x="609600" y="3406080"/>
            <a:ext cx="398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Aceleración del diseño mediante generación de prompts IA para validación visual temprana en </a:t>
            </a:r>
            <a:r>
              <a:rPr lang="en-US" sz="15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Google AI</a:t>
            </a: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63" name="Google Shape;263;h214d61976f7a87a9_0_971"/>
          <p:cNvSpPr txBox="1"/>
          <p:nvPr/>
        </p:nvSpPr>
        <p:spPr>
          <a:xfrm>
            <a:off x="876300" y="43204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Enfoque </a:t>
            </a:r>
            <a:r>
              <a:rPr lang="en-US" sz="13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64" name="Google Shape;264;h214d61976f7a87a9_0_971"/>
          <p:cNvSpPr txBox="1"/>
          <p:nvPr/>
        </p:nvSpPr>
        <p:spPr>
          <a:xfrm>
            <a:off x="876300" y="468243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Visualizador olfativo interactivo.</a:t>
            </a:r>
            <a:endParaRPr/>
          </a:p>
        </p:txBody>
      </p:sp>
      <p:sp>
        <p:nvSpPr>
          <p:cNvPr id="265" name="Google Shape;265;h214d61976f7a87a9_0_971"/>
          <p:cNvSpPr txBox="1"/>
          <p:nvPr/>
        </p:nvSpPr>
        <p:spPr>
          <a:xfrm>
            <a:off x="876300" y="50443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Flujo de Checkout optimizado.</a:t>
            </a:r>
            <a:endParaRPr/>
          </a:p>
        </p:txBody>
      </p:sp>
      <p:pic>
        <p:nvPicPr>
          <p:cNvPr id="266" name="Google Shape;266;h214d61976f7a87a9_0_971" title="{3303D237-5402-4BA8-A628-765178BA1701}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100" y="113700"/>
            <a:ext cx="7191125" cy="65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h214d61976f7a87a9_0_99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3347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h214d61976f7a87a9_0_99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69671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h214d61976f7a87a9_0_99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05866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h214d61976f7a87a9_0_994"/>
          <p:cNvSpPr txBox="1"/>
          <p:nvPr/>
        </p:nvSpPr>
        <p:spPr>
          <a:xfrm>
            <a:off x="609600" y="1604069"/>
            <a:ext cx="4857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DISEÑO INTERACTIVO UI/UX</a:t>
            </a:r>
            <a:endParaRPr/>
          </a:p>
        </p:txBody>
      </p:sp>
      <p:sp>
        <p:nvSpPr>
          <p:cNvPr id="275" name="Google Shape;275;h214d61976f7a87a9_0_994"/>
          <p:cNvSpPr txBox="1"/>
          <p:nvPr/>
        </p:nvSpPr>
        <p:spPr>
          <a:xfrm>
            <a:off x="609600" y="1927919"/>
            <a:ext cx="4180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Prototipos de Alta Fidelidad</a:t>
            </a:r>
            <a:endParaRPr/>
          </a:p>
        </p:txBody>
      </p:sp>
      <p:sp>
        <p:nvSpPr>
          <p:cNvPr id="276" name="Google Shape;276;h214d61976f7a87a9_0_994"/>
          <p:cNvSpPr txBox="1"/>
          <p:nvPr/>
        </p:nvSpPr>
        <p:spPr>
          <a:xfrm>
            <a:off x="609600" y="3406080"/>
            <a:ext cx="398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Aceleración del diseño mediante generación de prompts IA para validación visual temprana en </a:t>
            </a:r>
            <a:r>
              <a:rPr lang="en-US" sz="15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Google AI</a:t>
            </a: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77" name="Google Shape;277;h214d61976f7a87a9_0_994"/>
          <p:cNvSpPr txBox="1"/>
          <p:nvPr/>
        </p:nvSpPr>
        <p:spPr>
          <a:xfrm>
            <a:off x="876300" y="43204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Enfoque </a:t>
            </a:r>
            <a:r>
              <a:rPr lang="en-US" sz="13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Web</a:t>
            </a: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78" name="Google Shape;278;h214d61976f7a87a9_0_994"/>
          <p:cNvSpPr txBox="1"/>
          <p:nvPr/>
        </p:nvSpPr>
        <p:spPr>
          <a:xfrm>
            <a:off x="876300" y="468243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Visualizador olfativo interactivo.</a:t>
            </a:r>
            <a:endParaRPr/>
          </a:p>
        </p:txBody>
      </p:sp>
      <p:sp>
        <p:nvSpPr>
          <p:cNvPr id="279" name="Google Shape;279;h214d61976f7a87a9_0_994"/>
          <p:cNvSpPr txBox="1"/>
          <p:nvPr/>
        </p:nvSpPr>
        <p:spPr>
          <a:xfrm>
            <a:off x="876300" y="5044380"/>
            <a:ext cx="4591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Flujo de Checkout optimizado.</a:t>
            </a:r>
            <a:endParaRPr/>
          </a:p>
        </p:txBody>
      </p:sp>
      <p:pic>
        <p:nvPicPr>
          <p:cNvPr id="280" name="Google Shape;280;h214d61976f7a87a9_0_9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125" y="855875"/>
            <a:ext cx="7014124" cy="490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34EA-E0C3-DBB1-5649-63305B629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;h214d61976f7a87a9_0_99">
            <a:extLst>
              <a:ext uri="{FF2B5EF4-FFF2-40B4-BE49-F238E27FC236}">
                <a16:creationId xmlns:a16="http://schemas.microsoft.com/office/drawing/2014/main" id="{64F482F8-837D-D580-3491-7CAE009240DD}"/>
              </a:ext>
            </a:extLst>
          </p:cNvPr>
          <p:cNvSpPr txBox="1"/>
          <p:nvPr/>
        </p:nvSpPr>
        <p:spPr>
          <a:xfrm>
            <a:off x="5922012" y="356747"/>
            <a:ext cx="546730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Matriz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 </a:t>
            </a:r>
            <a:r>
              <a:rPr lang="en-US" sz="30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Riesgos</a:t>
            </a:r>
            <a:r>
              <a:rPr lang="en-US" sz="30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y </a:t>
            </a:r>
            <a:r>
              <a:rPr lang="en-US" sz="30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Mitigación</a:t>
            </a:r>
            <a:endParaRPr dirty="0"/>
          </a:p>
        </p:txBody>
      </p:sp>
      <p:sp>
        <p:nvSpPr>
          <p:cNvPr id="5" name="Google Shape;138;h214d61976f7a87a9_0_99">
            <a:extLst>
              <a:ext uri="{FF2B5EF4-FFF2-40B4-BE49-F238E27FC236}">
                <a16:creationId xmlns:a16="http://schemas.microsoft.com/office/drawing/2014/main" id="{06188DDE-4743-1877-C31F-A49B339B77B9}"/>
              </a:ext>
            </a:extLst>
          </p:cNvPr>
          <p:cNvSpPr txBox="1"/>
          <p:nvPr/>
        </p:nvSpPr>
        <p:spPr>
          <a:xfrm>
            <a:off x="4427238" y="5620429"/>
            <a:ext cx="422842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Montserrat"/>
                <a:sym typeface="Montserrat"/>
              </a:rPr>
              <a:t>* Extracto </a:t>
            </a:r>
            <a:r>
              <a:rPr lang="en-US" sz="1350" dirty="0" err="1">
                <a:solidFill>
                  <a:schemeClr val="tx1"/>
                </a:solidFill>
                <a:latin typeface="Montserrat"/>
                <a:sym typeface="Montserrat"/>
              </a:rPr>
              <a:t>Planilla</a:t>
            </a:r>
            <a:r>
              <a:rPr lang="en-US" sz="1350" dirty="0">
                <a:solidFill>
                  <a:schemeClr val="tx1"/>
                </a:solidFill>
                <a:latin typeface="Montserrat"/>
                <a:sym typeface="Montserrat"/>
              </a:rPr>
              <a:t> Excel de </a:t>
            </a:r>
            <a:r>
              <a:rPr lang="en-US" sz="1350" dirty="0" err="1">
                <a:solidFill>
                  <a:schemeClr val="tx1"/>
                </a:solidFill>
                <a:latin typeface="Montserrat"/>
                <a:sym typeface="Montserrat"/>
              </a:rPr>
              <a:t>Riesgos</a:t>
            </a:r>
            <a:r>
              <a:rPr lang="en-US" sz="1350" dirty="0">
                <a:solidFill>
                  <a:schemeClr val="tx1"/>
                </a:solidFill>
                <a:latin typeface="Montserrat"/>
                <a:sym typeface="Montserrat"/>
              </a:rPr>
              <a:t> y </a:t>
            </a:r>
            <a:r>
              <a:rPr lang="en-US" sz="1350" dirty="0" err="1">
                <a:solidFill>
                  <a:schemeClr val="tx1"/>
                </a:solidFill>
                <a:latin typeface="Montserrat"/>
                <a:sym typeface="Montserrat"/>
              </a:rPr>
              <a:t>Mitigación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F6F59C2-B894-BAE2-5188-3931923A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227" y="2173760"/>
            <a:ext cx="10802911" cy="12252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5F3648F-DEFE-C86B-0D40-07A0EA20A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692" y="3697941"/>
            <a:ext cx="5649560" cy="162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11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214d61976f7a87a9_0_710"/>
          <p:cNvSpPr/>
          <p:nvPr/>
        </p:nvSpPr>
        <p:spPr>
          <a:xfrm>
            <a:off x="609600" y="2152650"/>
            <a:ext cx="3505200" cy="39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h214d61976f7a87a9_0_710"/>
          <p:cNvSpPr/>
          <p:nvPr/>
        </p:nvSpPr>
        <p:spPr>
          <a:xfrm>
            <a:off x="4343400" y="2152650"/>
            <a:ext cx="3505200" cy="39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h214d61976f7a87a9_0_710"/>
          <p:cNvSpPr/>
          <p:nvPr/>
        </p:nvSpPr>
        <p:spPr>
          <a:xfrm>
            <a:off x="8077200" y="2152650"/>
            <a:ext cx="3505200" cy="39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214d61976f7a87a9_0_710"/>
          <p:cNvSpPr/>
          <p:nvPr/>
        </p:nvSpPr>
        <p:spPr>
          <a:xfrm>
            <a:off x="609600" y="2152650"/>
            <a:ext cx="35052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h214d61976f7a87a9_0_710"/>
          <p:cNvSpPr/>
          <p:nvPr/>
        </p:nvSpPr>
        <p:spPr>
          <a:xfrm>
            <a:off x="4343400" y="2152650"/>
            <a:ext cx="35052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214d61976f7a87a9_0_710"/>
          <p:cNvSpPr/>
          <p:nvPr/>
        </p:nvSpPr>
        <p:spPr>
          <a:xfrm>
            <a:off x="8077200" y="2152650"/>
            <a:ext cx="35052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h214d61976f7a87a9_0_7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400" y="31242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h214d61976f7a87a9_0_7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4875" y="34853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h214d61976f7a87a9_0_7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8200" y="31242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h214d61976f7a87a9_0_7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8200" y="348615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h214d61976f7a87a9_0_7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8200" y="38481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h214d61976f7a87a9_0_710"/>
          <p:cNvSpPr txBox="1"/>
          <p:nvPr/>
        </p:nvSpPr>
        <p:spPr>
          <a:xfrm>
            <a:off x="609600" y="7620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SÍNTESIS OPERATIVA</a:t>
            </a:r>
            <a:endParaRPr/>
          </a:p>
        </p:txBody>
      </p:sp>
      <p:sp>
        <p:nvSpPr>
          <p:cNvPr id="297" name="Google Shape;297;h214d61976f7a87a9_0_710"/>
          <p:cNvSpPr txBox="1"/>
          <p:nvPr/>
        </p:nvSpPr>
        <p:spPr>
          <a:xfrm>
            <a:off x="609600" y="1085850"/>
            <a:ext cx="11582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Monitoreo</a:t>
            </a:r>
            <a:r>
              <a:rPr lang="en-US" sz="3600" b="1" i="0" u="none" strike="noStrike" cap="none" dirty="0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del Plan de </a:t>
            </a:r>
            <a:r>
              <a:rPr lang="en-US" sz="3600" b="1" i="0" u="none" strike="noStrike" cap="none" dirty="0" err="1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Trabajo</a:t>
            </a:r>
            <a:endParaRPr dirty="0"/>
          </a:p>
        </p:txBody>
      </p:sp>
      <p:sp>
        <p:nvSpPr>
          <p:cNvPr id="298" name="Google Shape;298;h214d61976f7a87a9_0_710"/>
          <p:cNvSpPr txBox="1"/>
          <p:nvPr/>
        </p:nvSpPr>
        <p:spPr>
          <a:xfrm>
            <a:off x="990600" y="2571750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Completado</a:t>
            </a:r>
            <a:endParaRPr/>
          </a:p>
        </p:txBody>
      </p:sp>
      <p:sp>
        <p:nvSpPr>
          <p:cNvPr id="299" name="Google Shape;299;h214d61976f7a87a9_0_710"/>
          <p:cNvSpPr txBox="1"/>
          <p:nvPr/>
        </p:nvSpPr>
        <p:spPr>
          <a:xfrm>
            <a:off x="4724400" y="2571750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 Curso</a:t>
            </a:r>
            <a:endParaRPr/>
          </a:p>
        </p:txBody>
      </p:sp>
      <p:sp>
        <p:nvSpPr>
          <p:cNvPr id="300" name="Google Shape;300;h214d61976f7a87a9_0_710"/>
          <p:cNvSpPr txBox="1"/>
          <p:nvPr/>
        </p:nvSpPr>
        <p:spPr>
          <a:xfrm>
            <a:off x="4724400" y="3105150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Desarrollo Front-End.</a:t>
            </a:r>
            <a:endParaRPr dirty="0"/>
          </a:p>
        </p:txBody>
      </p:sp>
      <p:sp>
        <p:nvSpPr>
          <p:cNvPr id="301" name="Google Shape;301;h214d61976f7a87a9_0_710"/>
          <p:cNvSpPr txBox="1"/>
          <p:nvPr/>
        </p:nvSpPr>
        <p:spPr>
          <a:xfrm>
            <a:off x="4724400" y="3443749"/>
            <a:ext cx="3429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Mejora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y Pulido de la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Base de Datos.</a:t>
            </a:r>
            <a:endParaRPr dirty="0"/>
          </a:p>
        </p:txBody>
      </p:sp>
      <p:sp>
        <p:nvSpPr>
          <p:cNvPr id="302" name="Google Shape;302;h214d61976f7a87a9_0_710"/>
          <p:cNvSpPr txBox="1"/>
          <p:nvPr/>
        </p:nvSpPr>
        <p:spPr>
          <a:xfrm>
            <a:off x="8458200" y="2571750"/>
            <a:ext cx="360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Próximas Fases</a:t>
            </a:r>
            <a:endParaRPr/>
          </a:p>
        </p:txBody>
      </p:sp>
      <p:sp>
        <p:nvSpPr>
          <p:cNvPr id="303" name="Google Shape;303;h214d61976f7a87a9_0_710"/>
          <p:cNvSpPr txBox="1"/>
          <p:nvPr/>
        </p:nvSpPr>
        <p:spPr>
          <a:xfrm>
            <a:off x="8458200" y="3105150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Desarrollo Backend (Match).</a:t>
            </a:r>
            <a:endParaRPr/>
          </a:p>
        </p:txBody>
      </p:sp>
      <p:sp>
        <p:nvSpPr>
          <p:cNvPr id="304" name="Google Shape;304;h214d61976f7a87a9_0_710"/>
          <p:cNvSpPr txBox="1"/>
          <p:nvPr/>
        </p:nvSpPr>
        <p:spPr>
          <a:xfrm>
            <a:off x="8458200" y="3467100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Integración Webpay.</a:t>
            </a:r>
            <a:endParaRPr/>
          </a:p>
        </p:txBody>
      </p:sp>
      <p:sp>
        <p:nvSpPr>
          <p:cNvPr id="305" name="Google Shape;305;h214d61976f7a87a9_0_710"/>
          <p:cNvSpPr txBox="1"/>
          <p:nvPr/>
        </p:nvSpPr>
        <p:spPr>
          <a:xfrm>
            <a:off x="8458200" y="3829050"/>
            <a:ext cx="2838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Aseguramiento de Calidad (QA).</a:t>
            </a:r>
            <a:endParaRPr/>
          </a:p>
        </p:txBody>
      </p:sp>
      <p:sp>
        <p:nvSpPr>
          <p:cNvPr id="306" name="Google Shape;306;h214d61976f7a87a9_0_710"/>
          <p:cNvSpPr txBox="1"/>
          <p:nvPr/>
        </p:nvSpPr>
        <p:spPr>
          <a:xfrm>
            <a:off x="685800" y="3105150"/>
            <a:ext cx="3429000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Planificación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estratégica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           (Acta de Constitución, Gantt, EDT).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h214d61976f7a87a9_0_710"/>
          <p:cNvSpPr txBox="1"/>
          <p:nvPr/>
        </p:nvSpPr>
        <p:spPr>
          <a:xfrm>
            <a:off x="685800" y="3575255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Especificación</a:t>
            </a: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Requerimientos</a:t>
            </a:r>
            <a:endParaRPr dirty="0"/>
          </a:p>
        </p:txBody>
      </p:sp>
      <p:sp>
        <p:nvSpPr>
          <p:cNvPr id="308" name="Google Shape;308;h214d61976f7a87a9_0_710"/>
          <p:cNvSpPr txBox="1"/>
          <p:nvPr/>
        </p:nvSpPr>
        <p:spPr>
          <a:xfrm>
            <a:off x="685800" y="3937205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Modelado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de Casos de Uso.</a:t>
            </a:r>
            <a:endParaRPr dirty="0"/>
          </a:p>
        </p:txBody>
      </p:sp>
      <p:sp>
        <p:nvSpPr>
          <p:cNvPr id="309" name="Google Shape;309;h214d61976f7a87a9_0_710"/>
          <p:cNvSpPr txBox="1"/>
          <p:nvPr/>
        </p:nvSpPr>
        <p:spPr>
          <a:xfrm>
            <a:off x="685800" y="4299155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n-US" sz="1350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Prototipado</a:t>
            </a: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y Mockups</a:t>
            </a:r>
            <a:endParaRPr dirty="0"/>
          </a:p>
        </p:txBody>
      </p:sp>
      <p:sp>
        <p:nvSpPr>
          <p:cNvPr id="3" name="Google Shape;308;h214d61976f7a87a9_0_710">
            <a:extLst>
              <a:ext uri="{FF2B5EF4-FFF2-40B4-BE49-F238E27FC236}">
                <a16:creationId xmlns:a16="http://schemas.microsoft.com/office/drawing/2014/main" id="{77D5612D-EAC4-68D0-7C12-EEA451B851F2}"/>
              </a:ext>
            </a:extLst>
          </p:cNvPr>
          <p:cNvSpPr txBox="1"/>
          <p:nvPr/>
        </p:nvSpPr>
        <p:spPr>
          <a:xfrm>
            <a:off x="685800" y="4657805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Diagrama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ER Base de Datos</a:t>
            </a:r>
            <a:endParaRPr dirty="0"/>
          </a:p>
        </p:txBody>
      </p:sp>
      <p:sp>
        <p:nvSpPr>
          <p:cNvPr id="5" name="Google Shape;309;h214d61976f7a87a9_0_710">
            <a:extLst>
              <a:ext uri="{FF2B5EF4-FFF2-40B4-BE49-F238E27FC236}">
                <a16:creationId xmlns:a16="http://schemas.microsoft.com/office/drawing/2014/main" id="{9C688E80-1969-0487-6E6F-115071B4D80F}"/>
              </a:ext>
            </a:extLst>
          </p:cNvPr>
          <p:cNvSpPr txBox="1"/>
          <p:nvPr/>
        </p:nvSpPr>
        <p:spPr>
          <a:xfrm>
            <a:off x="685800" y="5019755"/>
            <a:ext cx="342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r>
              <a:rPr lang="en-US" sz="1350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Matriz</a:t>
            </a: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350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Riesgos</a:t>
            </a:r>
            <a:r>
              <a:rPr lang="en-US" sz="1350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350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Mitigación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05065EA-3711-0CFA-66BE-31581568F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3535" y="7129"/>
            <a:ext cx="1848465" cy="7548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 txBox="1">
            <a:spLocks noGrp="1"/>
          </p:cNvSpPr>
          <p:nvPr>
            <p:ph type="title"/>
          </p:nvPr>
        </p:nvSpPr>
        <p:spPr>
          <a:xfrm>
            <a:off x="8287071" y="2733666"/>
            <a:ext cx="2904804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i="1"/>
              <a:t>Conclusiones y Reflexiones</a:t>
            </a:r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B1FEF8-1EFD-1947-D705-ECF3343152D9}"/>
              </a:ext>
            </a:extLst>
          </p:cNvPr>
          <p:cNvSpPr/>
          <p:nvPr/>
        </p:nvSpPr>
        <p:spPr>
          <a:xfrm>
            <a:off x="0" y="2674374"/>
            <a:ext cx="1445342" cy="147714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8564-C71C-12CB-758C-47B42A5A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0;p10">
            <a:extLst>
              <a:ext uri="{FF2B5EF4-FFF2-40B4-BE49-F238E27FC236}">
                <a16:creationId xmlns:a16="http://schemas.microsoft.com/office/drawing/2014/main" id="{7F28C533-F14C-1D30-E16B-88DBCCA8A67E}"/>
              </a:ext>
            </a:extLst>
          </p:cNvPr>
          <p:cNvSpPr txBox="1"/>
          <p:nvPr/>
        </p:nvSpPr>
        <p:spPr>
          <a:xfrm>
            <a:off x="1403974" y="1016031"/>
            <a:ext cx="5923097" cy="482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60000"/>
              </a:lnSpc>
              <a:buClr>
                <a:srgbClr val="3F3F46"/>
              </a:buClr>
              <a:buSzPts val="1400"/>
              <a:buFont typeface="Arial"/>
              <a:buChar char="•"/>
            </a:pPr>
            <a:r>
              <a:rPr lang="es-MX" b="1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Base Técnica Sólida: </a:t>
            </a:r>
            <a:r>
              <a:rPr lang="es-MX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Validar el ERS, el Diagrama ER y los prototipos nos asegura que la arquitectura está bien pensada antes de comenzar a programar.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1400"/>
              <a:buFont typeface="Arial"/>
              <a:buChar char="•"/>
            </a:pPr>
            <a:endParaRPr lang="es-MX" sz="1400" b="1" i="0" u="none" strike="noStrike" cap="none" dirty="0">
              <a:solidFill>
                <a:srgbClr val="3F3F4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60000"/>
              </a:lnSpc>
              <a:buClr>
                <a:srgbClr val="3F3F46"/>
              </a:buClr>
              <a:buSzPts val="1400"/>
              <a:buFont typeface="Arial"/>
              <a:buChar char="•"/>
            </a:pPr>
            <a:r>
              <a:rPr lang="es-MX" b="1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Control de Plazos y Riesgos: </a:t>
            </a:r>
            <a:r>
              <a:rPr lang="es-MX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Ajustar el EDT a tareas de máximo 3 días nos da un cronograma realista y preparado para la etapa de desarrollo desde la Semana 10.</a:t>
            </a:r>
          </a:p>
          <a:p>
            <a:pPr marL="285750" indent="-285750">
              <a:lnSpc>
                <a:spcPct val="160000"/>
              </a:lnSpc>
              <a:buClr>
                <a:srgbClr val="3F3F46"/>
              </a:buClr>
              <a:buSzPts val="1400"/>
              <a:buFont typeface="Arial"/>
              <a:buChar char="•"/>
            </a:pPr>
            <a:endParaRPr lang="es-MX" sz="1400" i="0" u="none" strike="noStrike" cap="none" dirty="0">
              <a:solidFill>
                <a:srgbClr val="3F3F4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60000"/>
              </a:lnSpc>
              <a:buClr>
                <a:srgbClr val="3F3F46"/>
              </a:buClr>
              <a:buSzPts val="1400"/>
              <a:buFont typeface="Arial"/>
              <a:buChar char="•"/>
            </a:pPr>
            <a:r>
              <a:rPr lang="es-MX" b="1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Lógica de Negocio Clara: </a:t>
            </a:r>
            <a:r>
              <a:rPr lang="es-MX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Los flujos del algoritmo </a:t>
            </a:r>
            <a:r>
              <a:rPr lang="es-MX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Essenzia</a:t>
            </a:r>
            <a:r>
              <a:rPr lang="es-MX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Match, la pirámide olfativa y los pagos están completamente alineados con la base de datos y las interfaces de usuario.</a:t>
            </a:r>
          </a:p>
          <a:p>
            <a:pPr>
              <a:lnSpc>
                <a:spcPct val="160000"/>
              </a:lnSpc>
              <a:buClr>
                <a:srgbClr val="3F3F46"/>
              </a:buClr>
              <a:buSzPts val="1400"/>
            </a:pPr>
            <a:endParaRPr lang="es-MX" sz="1400" i="0" u="none" strike="noStrike" cap="none" dirty="0">
              <a:solidFill>
                <a:srgbClr val="3F3F4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indent="-285750">
              <a:lnSpc>
                <a:spcPct val="160000"/>
              </a:lnSpc>
              <a:buClr>
                <a:srgbClr val="3F3F46"/>
              </a:buClr>
              <a:buSzPts val="1400"/>
              <a:buFont typeface="Arial"/>
              <a:buChar char="•"/>
            </a:pPr>
            <a:r>
              <a:rPr lang="es-MX" b="1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Próxima Entrega: </a:t>
            </a:r>
            <a:r>
              <a:rPr lang="es-MX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Plataforma</a:t>
            </a:r>
            <a:r>
              <a:rPr lang="es-MX" b="1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-MX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web de </a:t>
            </a:r>
            <a:r>
              <a:rPr lang="es-MX" dirty="0" err="1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Essenzia</a:t>
            </a:r>
            <a:r>
              <a:rPr lang="es-MX" dirty="0">
                <a:solidFill>
                  <a:srgbClr val="3F3F46"/>
                </a:solidFill>
                <a:latin typeface="Inter"/>
                <a:ea typeface="Inter"/>
                <a:cs typeface="Inter"/>
                <a:sym typeface="Inter"/>
              </a:rPr>
              <a:t> funcional y desplegada en vivo 100% operativo.</a:t>
            </a:r>
            <a:endParaRPr lang="es-MX" sz="1400" i="0" u="none" strike="noStrike" cap="none" dirty="0">
              <a:solidFill>
                <a:srgbClr val="3F3F4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Google Shape;213;p3" descr="image.png">
            <a:extLst>
              <a:ext uri="{FF2B5EF4-FFF2-40B4-BE49-F238E27FC236}">
                <a16:creationId xmlns:a16="http://schemas.microsoft.com/office/drawing/2014/main" id="{5D72C768-C6E8-721C-B70A-3B03991EB5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26478" y="1905862"/>
            <a:ext cx="3980835" cy="3046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2452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775</Words>
  <Application>Microsoft Office PowerPoint</Application>
  <PresentationFormat>Panorámica</PresentationFormat>
  <Paragraphs>107</Paragraphs>
  <Slides>22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2" baseType="lpstr">
      <vt:lpstr>Noto Sans Symbols</vt:lpstr>
      <vt:lpstr>Montserrat</vt:lpstr>
      <vt:lpstr>Playfair Display</vt:lpstr>
      <vt:lpstr>Calibri</vt:lpstr>
      <vt:lpstr>Arial</vt:lpstr>
      <vt:lpstr>Play</vt:lpstr>
      <vt:lpstr>Inter Light</vt:lpstr>
      <vt:lpstr>Playfair Display SemiBold</vt:lpstr>
      <vt:lpstr>Inter</vt:lpstr>
      <vt:lpstr>Tema de Office</vt:lpstr>
      <vt:lpstr>CAPSTONE Etapa 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 y Reflexiones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Osorio C.</dc:creator>
  <cp:lastModifiedBy>ALEXANDER DAVID ANDRADES GARCIA</cp:lastModifiedBy>
  <cp:revision>12</cp:revision>
  <dcterms:created xsi:type="dcterms:W3CDTF">2024-03-07T18:55:37Z</dcterms:created>
  <dcterms:modified xsi:type="dcterms:W3CDTF">2026-10-15T16:14:22Z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